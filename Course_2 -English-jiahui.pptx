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5"/>
  </p:handoutMasterIdLst>
  <p:sldIdLst>
    <p:sldId id="432" r:id="rId3"/>
    <p:sldId id="402" r:id="rId5"/>
    <p:sldId id="403" r:id="rId6"/>
    <p:sldId id="404" r:id="rId7"/>
    <p:sldId id="405" r:id="rId8"/>
    <p:sldId id="274" r:id="rId9"/>
    <p:sldId id="275" r:id="rId10"/>
    <p:sldId id="416" r:id="rId11"/>
    <p:sldId id="415" r:id="rId12"/>
    <p:sldId id="417" r:id="rId13"/>
    <p:sldId id="418" r:id="rId14"/>
    <p:sldId id="419" r:id="rId15"/>
    <p:sldId id="414" r:id="rId16"/>
    <p:sldId id="343" r:id="rId17"/>
    <p:sldId id="344" r:id="rId18"/>
    <p:sldId id="345" r:id="rId19"/>
    <p:sldId id="346" r:id="rId20"/>
    <p:sldId id="347" r:id="rId21"/>
    <p:sldId id="348" r:id="rId22"/>
    <p:sldId id="349" r:id="rId23"/>
    <p:sldId id="276" r:id="rId24"/>
    <p:sldId id="433" r:id="rId25"/>
    <p:sldId id="434" r:id="rId26"/>
    <p:sldId id="352" r:id="rId27"/>
    <p:sldId id="422" r:id="rId28"/>
    <p:sldId id="435" r:id="rId29"/>
    <p:sldId id="436" r:id="rId30"/>
    <p:sldId id="437" r:id="rId31"/>
    <p:sldId id="438" r:id="rId32"/>
    <p:sldId id="439" r:id="rId33"/>
    <p:sldId id="440" r:id="rId34"/>
    <p:sldId id="441" r:id="rId35"/>
    <p:sldId id="442" r:id="rId36"/>
    <p:sldId id="443" r:id="rId37"/>
    <p:sldId id="444" r:id="rId38"/>
    <p:sldId id="445" r:id="rId39"/>
    <p:sldId id="446" r:id="rId40"/>
    <p:sldId id="447" r:id="rId41"/>
    <p:sldId id="448" r:id="rId42"/>
    <p:sldId id="449" r:id="rId43"/>
    <p:sldId id="450" r:id="rId44"/>
    <p:sldId id="451" r:id="rId45"/>
    <p:sldId id="452" r:id="rId46"/>
    <p:sldId id="453" r:id="rId47"/>
    <p:sldId id="454" r:id="rId48"/>
    <p:sldId id="455" r:id="rId49"/>
    <p:sldId id="456" r:id="rId50"/>
    <p:sldId id="457" r:id="rId51"/>
    <p:sldId id="458" r:id="rId52"/>
    <p:sldId id="459" r:id="rId53"/>
    <p:sldId id="460" r:id="rId54"/>
    <p:sldId id="461" r:id="rId55"/>
    <p:sldId id="462" r:id="rId56"/>
    <p:sldId id="463" r:id="rId57"/>
    <p:sldId id="464" r:id="rId58"/>
    <p:sldId id="465" r:id="rId59"/>
    <p:sldId id="466" r:id="rId60"/>
    <p:sldId id="467" r:id="rId61"/>
    <p:sldId id="468" r:id="rId62"/>
    <p:sldId id="469" r:id="rId63"/>
    <p:sldId id="470" r:id="rId64"/>
    <p:sldId id="471" r:id="rId65"/>
    <p:sldId id="472" r:id="rId66"/>
    <p:sldId id="473" r:id="rId67"/>
    <p:sldId id="474" r:id="rId68"/>
    <p:sldId id="475" r:id="rId69"/>
    <p:sldId id="476" r:id="rId70"/>
    <p:sldId id="477" r:id="rId71"/>
    <p:sldId id="478" r:id="rId72"/>
    <p:sldId id="479" r:id="rId73"/>
    <p:sldId id="480" r:id="rId74"/>
  </p:sldIdLst>
  <p:sldSz cx="12192000" cy="6858000"/>
  <p:notesSz cx="7104380" cy="10234930"/>
  <p:custDataLst>
    <p:tags r:id="rId79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90204" pitchFamily="34" charset="0"/>
        <a:ea typeface="黑体" panose="02010609060101010101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90204" pitchFamily="34" charset="0"/>
        <a:ea typeface="黑体" panose="02010609060101010101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90204" pitchFamily="34" charset="0"/>
        <a:ea typeface="黑体" panose="02010609060101010101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90204" pitchFamily="34" charset="0"/>
        <a:ea typeface="黑体" panose="02010609060101010101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90204" pitchFamily="34" charset="0"/>
        <a:ea typeface="黑体" panose="02010609060101010101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90204" pitchFamily="34" charset="0"/>
        <a:ea typeface="黑体" panose="02010609060101010101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90204" pitchFamily="34" charset="0"/>
        <a:ea typeface="黑体" panose="02010609060101010101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90204" pitchFamily="34" charset="0"/>
        <a:ea typeface="黑体" panose="02010609060101010101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90204" pitchFamily="34" charset="0"/>
        <a:ea typeface="黑体" panose="02010609060101010101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B2B2B2"/>
    <a:srgbClr val="202020"/>
    <a:srgbClr val="323232"/>
    <a:srgbClr val="CC3300"/>
    <a:srgbClr val="CC0000"/>
    <a:srgbClr val="FF3300"/>
    <a:srgbClr val="990000"/>
    <a:srgbClr val="FF8D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2278"/>
    <p:restoredTop sz="94660"/>
  </p:normalViewPr>
  <p:slideViewPr>
    <p:cSldViewPr snapToGrid="0" showGuides="1">
      <p:cViewPr varScale="1">
        <p:scale>
          <a:sx n="163" d="100"/>
          <a:sy n="163" d="100"/>
        </p:scale>
        <p:origin x="-432" y="-108"/>
      </p:cViewPr>
      <p:guideLst>
        <p:guide orient="horz" pos="222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9" Type="http://schemas.openxmlformats.org/officeDocument/2006/relationships/tags" Target="tags/tag6.xml"/><Relationship Id="rId78" Type="http://schemas.openxmlformats.org/officeDocument/2006/relationships/tableStyles" Target="tableStyles.xml"/><Relationship Id="rId77" Type="http://schemas.openxmlformats.org/officeDocument/2006/relationships/viewProps" Target="viewProps.xml"/><Relationship Id="rId76" Type="http://schemas.openxmlformats.org/officeDocument/2006/relationships/presProps" Target="presProps.xml"/><Relationship Id="rId75" Type="http://schemas.openxmlformats.org/officeDocument/2006/relationships/handoutMaster" Target="handoutMasters/handoutMaster1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pPr fontAlgn="auto"/>
            <a:fld id="{0F9B84EA-7D68-4D60-9CB1-D50884785D1C}" type="datetimeFigureOut">
              <a:rPr lang="zh-CN" altLang="en-US" sz="1245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4313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pPr fontAlgn="auto"/>
            <a:fld id="{8D4E0FC9-F1F8-4FAE-9988-3BA365CFD46F}" type="slidenum">
              <a:rPr lang="zh-CN" altLang="en-US" sz="1245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D6C8D182-E4C8-4120-9249-FC9774456FFA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12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125" name="备注占位符 4"/>
          <p:cNvSpPr>
            <a:spLocks noGrp="1"/>
          </p:cNvSpPr>
          <p:nvPr>
            <p:ph type="body" sz="quarter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85D0DACE-38E0-42D2-9336-2B707D34BC6D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170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7171" name="灯片编号占位符 3"/>
          <p:cNvSpPr>
            <a:spLocks noGrp="1"/>
          </p:cNvSpPr>
          <p:nvPr>
            <p:ph type="sldNum" sz="quarter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可以</a:t>
            </a:r>
            <a:r>
              <a:rPr lang="zh-CN" altLang="en-US"/>
              <a:t>播放视频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可以</a:t>
            </a:r>
            <a:r>
              <a:rPr lang="zh-CN" altLang="en-US"/>
              <a:t>播放视频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让学生</a:t>
            </a:r>
            <a:r>
              <a:rPr lang="zh-CN" altLang="en-US"/>
              <a:t>考虑一下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让学生</a:t>
            </a:r>
            <a:r>
              <a:rPr lang="zh-CN" altLang="en-US"/>
              <a:t>考虑一下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让学生</a:t>
            </a:r>
            <a:r>
              <a:rPr lang="zh-CN" altLang="en-US"/>
              <a:t>考虑一下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 think about it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 think about it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让学生</a:t>
            </a:r>
            <a:r>
              <a:rPr lang="zh-CN" altLang="en-US"/>
              <a:t>考虑一下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让学生</a:t>
            </a:r>
            <a:r>
              <a:rPr lang="zh-CN" altLang="en-US"/>
              <a:t>考虑一下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 think about it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 think about it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 think about it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 think about it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 think about it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 think about it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 think about it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 think about it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 think about it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 think about it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 think about it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Incorrect example</a:t>
            </a:r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 think about it</a:t>
            </a:r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 think about it</a:t>
            </a:r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 think about it</a:t>
            </a:r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 think about it</a:t>
            </a:r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 think about it</a:t>
            </a:r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 think about it</a:t>
            </a:r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 think about it</a:t>
            </a:r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 think about it</a:t>
            </a:r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 think about it</a:t>
            </a:r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 think about it</a:t>
            </a:r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 think about it</a:t>
            </a:r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en-US" altLang="zh-CN">
                <a:latin typeface="宋体" pitchFamily="2" charset="-122"/>
                <a:ea typeface="宋体" pitchFamily="2" charset="-122"/>
                <a:sym typeface="+mn-ea"/>
              </a:rPr>
              <a:t># Equivalent to x or (y and z): outputs yes; # Add parentheses manually to change the order: outputs no</a:t>
            </a:r>
            <a:br>
              <a:rPr lang="en-US" altLang="zh-CN">
                <a:latin typeface="宋体" pitchFamily="2" charset="-122"/>
                <a:ea typeface="宋体" pitchFamily="2" charset="-122"/>
                <a:sym typeface="+mn-ea"/>
              </a:rPr>
            </a:br>
            <a:endParaRPr lang="en-US" altLang="zh-CN">
              <a:latin typeface="宋体" pitchFamily="2" charset="-122"/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en-US" altLang="zh-CN">
                <a:latin typeface="宋体" pitchFamily="2" charset="-122"/>
                <a:ea typeface="宋体" pitchFamily="2" charset="-122"/>
                <a:sym typeface="+mn-ea"/>
              </a:rPr>
              <a:t># Equivalent to x or (y and z): outputs yes; # Add parentheses manually to change the order: outputs no</a:t>
            </a:r>
            <a:br>
              <a:rPr lang="en-US" altLang="zh-CN">
                <a:latin typeface="宋体" pitchFamily="2" charset="-122"/>
                <a:ea typeface="宋体" pitchFamily="2" charset="-122"/>
                <a:sym typeface="+mn-ea"/>
              </a:rPr>
            </a:br>
            <a:endParaRPr lang="en-US" altLang="zh-CN">
              <a:latin typeface="宋体" pitchFamily="2" charset="-122"/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Explain line by line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263DB197-84B0-484E-9C0F-88358ECCB797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E077DA78-E013-4A8C-AD75-63A150561B10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263DB197-84B0-484E-9C0F-88358ECCB797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E077DA78-E013-4A8C-AD75-63A150561B10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2.png"/><Relationship Id="rId16" Type="http://schemas.openxmlformats.org/officeDocument/2006/relationships/image" Target="../media/image1.pn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  <p:pic>
        <p:nvPicPr>
          <p:cNvPr id="1029" name="图片 1" descr="图片1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7" descr="微信图片_20241016164137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95250" y="112713"/>
            <a:ext cx="3494088" cy="2825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GI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9.wmf"/><Relationship Id="rId2" Type="http://schemas.openxmlformats.org/officeDocument/2006/relationships/oleObject" Target="../embeddings/oleObject1.bin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9.wmf"/><Relationship Id="rId2" Type="http://schemas.openxmlformats.org/officeDocument/2006/relationships/oleObject" Target="../embeddings/oleObject2.bin"/><Relationship Id="rId1" Type="http://schemas.openxmlformats.org/officeDocument/2006/relationships/tags" Target="../tags/tag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5.png"/></Relationships>
</file>

<file path=ppt/slides/_rels/slide6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1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grpSp>
        <p:nvGrpSpPr>
          <p:cNvPr id="6147" name="组合 5"/>
          <p:cNvGrpSpPr/>
          <p:nvPr/>
        </p:nvGrpSpPr>
        <p:grpSpPr>
          <a:xfrm>
            <a:off x="-39052" y="-28575"/>
            <a:ext cx="12231052" cy="6886575"/>
            <a:chOff x="6964" y="0"/>
            <a:chExt cx="12192513" cy="6886575"/>
          </a:xfrm>
        </p:grpSpPr>
        <p:sp>
          <p:nvSpPr>
            <p:cNvPr id="4" name="矩形 3"/>
            <p:cNvSpPr/>
            <p:nvPr/>
          </p:nvSpPr>
          <p:spPr>
            <a:xfrm>
              <a:off x="6964" y="0"/>
              <a:ext cx="12192001" cy="68451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r>
                <a:rPr lang="en-US" altLang="zh-CN" sz="4000" u="sng" dirty="0">
                  <a:solidFill>
                    <a:srgbClr val="0000FF"/>
                  </a:solidFill>
                  <a:latin typeface="Arial Black" panose="020B0A04020102020204" charset="0"/>
                  <a:ea typeface="等线" panose="02010600030101010101" pitchFamily="2" charset="-122"/>
                  <a:sym typeface="+mn-ea"/>
                </a:rPr>
                <a:t>Foundations of Programming Design</a:t>
              </a:r>
              <a:endParaRPr lang="en-US" altLang="zh-CN" sz="4000" u="sng" dirty="0">
                <a:solidFill>
                  <a:srgbClr val="0000FF"/>
                </a:solidFill>
                <a:latin typeface="Arial Black" panose="020B0A04020102020204" charset="0"/>
                <a:ea typeface="等线" panose="02010600030101010101" pitchFamily="2" charset="-122"/>
                <a:sym typeface="+mn-ea"/>
              </a:endParaRPr>
            </a:p>
            <a:p>
              <a:pPr algn="ctr" fontAlgn="auto"/>
              <a:r>
                <a:rPr lang="en-US" altLang="zh-CN" sz="2400" strike="noStrike" noProof="1" dirty="0">
                  <a:solidFill>
                    <a:schemeClr val="tx1"/>
                  </a:solidFill>
                  <a:latin typeface="Arial Black" panose="020B0A04020102020204" charset="0"/>
                  <a:ea typeface="等线" panose="02010600030101010101" pitchFamily="2" charset="-122"/>
                  <a:sym typeface="+mn-ea"/>
                </a:rPr>
                <a:t>Mengzhuo Guo</a:t>
              </a:r>
              <a:endParaRPr lang="en-US" altLang="zh-CN" sz="2400" strike="noStrike" noProof="1" dirty="0">
                <a:solidFill>
                  <a:schemeClr val="tx1"/>
                </a:solidFill>
                <a:latin typeface="Arial Black" panose="020B0A04020102020204" charset="0"/>
                <a:ea typeface="等线" panose="02010600030101010101" pitchFamily="2" charset="-122"/>
                <a:sym typeface="+mn-ea"/>
              </a:endParaRPr>
            </a:p>
            <a:p>
              <a:pPr algn="ctr" fontAlgn="auto"/>
              <a:r>
                <a:rPr lang="en-US" altLang="zh-CN" sz="2400" strike="noStrike" noProof="1" dirty="0">
                  <a:solidFill>
                    <a:schemeClr val="tx1"/>
                  </a:solidFill>
                  <a:latin typeface="Arial Black" panose="020B0A04020102020204" charset="0"/>
                  <a:ea typeface="等线" panose="02010600030101010101" pitchFamily="2" charset="-122"/>
                  <a:sym typeface="+mn-ea"/>
                </a:rPr>
                <a:t> mengzhguo@scu.edu.cn</a:t>
              </a:r>
              <a:endParaRPr lang="zh-CN" altLang="en-US" sz="2400" strike="noStrike" noProof="1" dirty="0">
                <a:solidFill>
                  <a:schemeClr val="tx1"/>
                </a:solidFill>
                <a:latin typeface="Arial Black" panose="020B0A04020102020204" charset="0"/>
                <a:ea typeface="等线" panose="02010600030101010101" pitchFamily="2" charset="-122"/>
                <a:sym typeface="+mn-ea"/>
              </a:endParaRPr>
            </a:p>
            <a:p>
              <a:pPr algn="ctr" fontAlgn="auto"/>
              <a:r>
                <a:rPr lang="en-US" altLang="zh-CN" sz="2400" strike="noStrike" noProof="1" dirty="0">
                  <a:solidFill>
                    <a:schemeClr val="tx1"/>
                  </a:solidFill>
                  <a:latin typeface="Arial Black" panose="020B0A04020102020204" charset="0"/>
                  <a:ea typeface="等线" panose="02010600030101010101" pitchFamily="2" charset="-122"/>
                  <a:sym typeface="+mn-ea"/>
                </a:rPr>
                <a:t>Business School, Sichuan University</a:t>
              </a:r>
              <a:endParaRPr lang="en-US" altLang="zh-CN" sz="2400" strike="noStrike" noProof="1" dirty="0">
                <a:solidFill>
                  <a:schemeClr val="tx1"/>
                </a:solidFill>
                <a:latin typeface="Arial Black" panose="020B0A04020102020204" charset="0"/>
                <a:ea typeface="等线" panose="02010600030101010101" pitchFamily="2" charset="-122"/>
                <a:sym typeface="+mn-ea"/>
              </a:endParaRPr>
            </a:p>
          </p:txBody>
        </p:sp>
        <p:pic>
          <p:nvPicPr>
            <p:cNvPr id="6149" name="图片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595" y="4065270"/>
              <a:ext cx="12191882" cy="2821305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3" name="图片 7" descr="微信图片_202410161641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112713"/>
            <a:ext cx="3494088" cy="2825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57810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Review - Why Learn Python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75335" y="1441450"/>
            <a:ext cx="10494010" cy="4646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Programming is fun</a:t>
            </a:r>
            <a:endParaRPr lang="zh-CN" alt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Turn ideas into reality</a:t>
            </a:r>
            <a:endParaRPr lang="zh-CN" alt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Achieve goals step by step</a:t>
            </a:r>
            <a:endParaRPr lang="zh-CN" alt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Thinking training</a:t>
            </a:r>
            <a:endParaRPr lang="zh-CN" altLang="en-US"/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A mindset for abstracting interactions and automating execution</a:t>
            </a:r>
            <a:endParaRPr lang="zh-CN" altLang="en-US"/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Computational thinking (design and construction): a third mode of thinking, distinct from logical thinking (reasoning and deduction - mathematics) and empirical thinking (experimentation and verification - physics)</a:t>
            </a:r>
            <a:endParaRPr lang="zh-CN" alt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Not simply writing code:</a:t>
            </a:r>
            <a:endParaRPr lang="en-US" altLang="zh-CN"/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Solutions</a:t>
            </a:r>
            <a:endParaRPr lang="zh-CN" altLang="en-US"/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User experience and execution efficiency (for example, page-load latency in recommendation systems)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57810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Review - Why Learn Python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75335" y="1441450"/>
            <a:ext cx="10494010" cy="4646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Programming can improve efficiency</a:t>
            </a:r>
            <a:endParaRPr lang="zh-CN" alt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Solve repetitive tasks in batches</a:t>
            </a:r>
            <a:endParaRPr lang="zh-CN" alt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Increase a sense of accomplishment</a:t>
            </a:r>
            <a:endParaRPr lang="zh-CN" alt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/>
          </a:p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Programming is one of today's basic skills</a:t>
            </a:r>
            <a:endParaRPr lang="zh-CN" alt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Use computers to solve problems</a:t>
            </a:r>
            <a:endParaRPr lang="en-US" altLang="zh-CN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A workplace need in the information age</a:t>
            </a:r>
            <a:endParaRPr lang="zh-CN" alt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/>
          </a:p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Is programming difficult to learn?</a:t>
            </a:r>
            <a:endParaRPr lang="en-US" altLang="zh-CN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>
                <a:sym typeface="+mn-ea"/>
              </a:rPr>
              <a:t>No！</a:t>
            </a:r>
            <a:endParaRPr lang="en-US" altLang="zh-CN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Master basic syntax, concepts, and logic</a:t>
            </a:r>
            <a:endParaRPr lang="zh-CN" alt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Think structurally about problems, decompose them step by step, and learn common patterns</a:t>
            </a:r>
            <a:endParaRPr lang="zh-CN" alt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Study examples (GitHub) and learn to adapt them</a:t>
            </a:r>
            <a:endParaRPr lang="en-US" altLang="zh-CN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57810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Review - Installing Python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75335" y="1441450"/>
            <a:ext cx="10494010" cy="4646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en-US" altLang="zh-CN"/>
              <a:t>Anaconda </a:t>
            </a:r>
            <a:r>
              <a:rPr lang="en-US" altLang="zh-CN"/>
              <a:t>python</a:t>
            </a:r>
            <a:endParaRPr lang="en-US" altLang="zh-CN"/>
          </a:p>
          <a:p>
            <a:pPr marL="285750" lvl="0" indent="-285750">
              <a:buFont typeface="Arial" panose="020B0604020202090204" pitchFamily="34" charset="0"/>
              <a:buChar char="•"/>
            </a:pPr>
            <a:endParaRPr lang="en-US" altLang="zh-CN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/>
              <a:t>Virtual environment configuration:</a:t>
            </a:r>
            <a:endParaRPr lang="en-US" altLang="zh-CN"/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en-US" altLang="zh-CN"/>
              <a:t>conda create --name</a:t>
            </a:r>
            <a:endParaRPr lang="en-US" altLang="zh-CN"/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en-US" altLang="zh-CN"/>
              <a:t>conda env list</a:t>
            </a:r>
            <a:endParaRPr lang="en-US" altLang="zh-CN"/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en-US" altLang="zh-CN"/>
              <a:t>conda env remove --name </a:t>
            </a:r>
            <a:endParaRPr lang="en-US" altLang="zh-CN"/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en-US" altLang="zh-CN"/>
              <a:t>conda info</a:t>
            </a:r>
            <a:endParaRPr lang="en-US" altLang="zh-CN"/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en-US" altLang="zh-CN"/>
              <a:t>conda activate </a:t>
            </a:r>
            <a:endParaRPr lang="en-US" altLang="zh-CN"/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en-US" altLang="zh-CN"/>
              <a:t>conda deactivate </a:t>
            </a:r>
            <a:endParaRPr lang="en-US" altLang="zh-CN"/>
          </a:p>
          <a:p>
            <a:pPr marL="285750" lvl="0" indent="-285750">
              <a:buFont typeface="Arial" panose="020B0604020202090204" pitchFamily="34" charset="0"/>
              <a:buChar char="•"/>
            </a:pPr>
            <a:endParaRPr lang="en-US" altLang="zh-CN"/>
          </a:p>
          <a:p>
            <a:pPr marL="285750" lvl="0" indent="-285750">
              <a:buFont typeface="Arial" panose="020B0604020202090204" pitchFamily="34" charset="0"/>
              <a:buChar char="•"/>
            </a:pP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57810" y="631190"/>
            <a:ext cx="746950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Review - Programming Approach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  <a:p>
            <a:pPr>
              <a:buFont typeface="Arial" panose="020B0604020202090204" pitchFamily="34" charset="0"/>
            </a:pP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7810" y="1441450"/>
            <a:ext cx="10494010" cy="4646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en-US" altLang="zh-CN">
                <a:sym typeface="+mn-ea"/>
              </a:rPr>
              <a:t>Recall：IPO</a:t>
            </a:r>
            <a:endParaRPr lang="en-US" altLang="zh-CN"/>
          </a:p>
          <a:p>
            <a:pPr marL="285750" lvl="0" indent="-285750">
              <a:buFont typeface="Arial" panose="020B0604020202090204" pitchFamily="34" charset="0"/>
              <a:buChar char="•"/>
            </a:pPr>
            <a:endParaRPr lang="en-US" altLang="zh-CN"/>
          </a:p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en-US" altLang="zh-CN">
                <a:sym typeface="+mn-ea"/>
              </a:rPr>
              <a:t>6 steps</a:t>
            </a:r>
            <a:endParaRPr lang="zh-CN" altLang="en-US"/>
          </a:p>
          <a:p>
            <a:pPr marL="285750" lvl="0" indent="-285750">
              <a:buFont typeface="Arial" panose="020B0604020202090204" pitchFamily="34" charset="0"/>
              <a:buChar char="•"/>
            </a:pPr>
            <a:endParaRPr lang="zh-CN" alt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>
                <a:sym typeface="+mn-ea"/>
              </a:rPr>
              <a:t>1. Analyze the problem: identify which parts require computation;</a:t>
            </a:r>
            <a:endParaRPr lang="en-US" altLang="zh-CN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>
                <a:sym typeface="+mn-ea"/>
              </a:rPr>
              <a:t>2. Define boundaries: separate module responsibilities and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plan the IPO;</a:t>
            </a:r>
            <a:endParaRPr lang="en-US" altLang="zh-CN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>
                <a:sym typeface="+mn-ea"/>
              </a:rPr>
              <a:t>3. Design the algorithm: design the solution and focus on the algorithm itself;</a:t>
            </a:r>
            <a:endParaRPr lang="zh-CN" alt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>
                <a:sym typeface="+mn-ea"/>
              </a:rPr>
              <a:t>4.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 Write the program: coding;</a:t>
            </a:r>
            <a:endParaRPr lang="en-US" altLang="zh-CN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>
                <a:sym typeface="+mn-ea"/>
              </a:rPr>
              <a:t>5.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Debug and test</a:t>
            </a:r>
            <a:r>
              <a:rPr lang="en-US" altLang="zh-CN">
                <a:sym typeface="+mn-ea"/>
              </a:rPr>
              <a:t>: make sure the program runs correctly - not just runs, but runs right;</a:t>
            </a:r>
            <a:endParaRPr lang="en-US" altLang="zh-CN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>
                <a:sym typeface="+mn-ea"/>
              </a:rPr>
              <a:t>6. Maintain later: upgrade, maintain, update, and improve.</a:t>
            </a:r>
            <a:endParaRPr lang="en-US" altLang="zh-CN"/>
          </a:p>
          <a:p>
            <a:pPr marL="285750" lvl="0" indent="-285750">
              <a:buFont typeface="Arial" panose="020B0604020202090204" pitchFamily="34" charset="0"/>
              <a:buChar char="•"/>
            </a:pPr>
            <a:endParaRPr lang="en-US" altLang="zh-CN"/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7823835" y="516890"/>
            <a:ext cx="3829050" cy="23241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9910445" y="2523490"/>
            <a:ext cx="1504950" cy="317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0196830" y="221615"/>
            <a:ext cx="1858010" cy="687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61060" y="2223770"/>
            <a:ext cx="10528300" cy="2122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fontAlgn="auto"/>
            <a:r>
              <a:rPr lang="en-US" altLang="zh-CN" sz="6600" u="sng" dirty="0">
                <a:solidFill>
                  <a:srgbClr val="0000FF"/>
                </a:solidFill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S2. Python Language Fundamentals</a:t>
            </a:r>
            <a:endParaRPr lang="zh-CN" altLang="en-US" sz="6600" u="sng" dirty="0">
              <a:solidFill>
                <a:srgbClr val="0000FF"/>
              </a:solidFill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A quick start for Jupyter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63055" y="6311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</a:rPr>
              <a:t>What is Jupyter Notebook?</a:t>
            </a:r>
            <a:endParaRPr lang="en-US" altLang="zh-CN" sz="240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58190" y="15341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It is a development tool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758190" y="2069465"/>
            <a:ext cx="6771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It divides a program into small pieces/blocks -- </a:t>
            </a:r>
            <a:r>
              <a:rPr lang="en-US" altLang="zh-CN" i="1"/>
              <a:t>cells</a:t>
            </a:r>
            <a:endParaRPr lang="en-US" altLang="zh-CN" i="1"/>
          </a:p>
        </p:txBody>
      </p:sp>
      <p:sp>
        <p:nvSpPr>
          <p:cNvPr id="10" name="文本框 9"/>
          <p:cNvSpPr txBox="1"/>
          <p:nvPr/>
        </p:nvSpPr>
        <p:spPr>
          <a:xfrm>
            <a:off x="6889115" y="19773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</a:rPr>
              <a:t>Benefits?</a:t>
            </a:r>
            <a:endParaRPr lang="en-US" altLang="zh-CN" sz="240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58190" y="2752725"/>
            <a:ext cx="6771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It allows to run one cell at a time</a:t>
            </a:r>
            <a:endParaRPr lang="en-US" altLang="zh-CN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A quick start for Jupyter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290" y="1376045"/>
            <a:ext cx="10005695" cy="42900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90" y="1233805"/>
            <a:ext cx="9381490" cy="41376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0" y="1347470"/>
            <a:ext cx="9324975" cy="57346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0810" y="1996440"/>
            <a:ext cx="12039600" cy="34036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07010" y="2628900"/>
            <a:ext cx="12192000" cy="31711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A quick start for Jupyter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0" y="1181100"/>
            <a:ext cx="12192000" cy="43256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685" y="3314700"/>
            <a:ext cx="5772150" cy="31813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471160" y="52012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highlight>
                  <a:srgbClr val="FFFF00"/>
                </a:highlight>
              </a:rPr>
              <a:t>We do not find our virtual env</a:t>
            </a:r>
            <a:endParaRPr lang="en-US" altLang="zh-CN"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A quick start for Jupyter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32500" y="63119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highlight>
                  <a:srgbClr val="FFFF00"/>
                </a:highlight>
              </a:rPr>
              <a:t>How to register our virtual env as a kernel?</a:t>
            </a:r>
            <a:endParaRPr lang="en-US" altLang="zh-CN">
              <a:highlight>
                <a:srgbClr val="FFFF00"/>
              </a:highlight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620" y="1360170"/>
            <a:ext cx="7143750" cy="23241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61620" y="3891280"/>
            <a:ext cx="645223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Enter the following 3 lines of codes:</a:t>
            </a:r>
            <a:endParaRPr lang="en-US" altLang="zh-CN"/>
          </a:p>
          <a:p>
            <a:r>
              <a:rPr lang="en-US" altLang="zh-CN"/>
              <a:t>1. conda install ipykernel</a:t>
            </a:r>
            <a:endParaRPr lang="en-US" altLang="zh-CN"/>
          </a:p>
          <a:p>
            <a:r>
              <a:rPr lang="en-US" altLang="zh-CN"/>
              <a:t>2. python -m ipykernel install --user --name=</a:t>
            </a:r>
            <a:r>
              <a:rPr lang="en-US" altLang="zh-CN" b="1"/>
              <a:t>my_env</a:t>
            </a:r>
            <a:r>
              <a:rPr lang="en-US" altLang="zh-CN"/>
              <a:t> --display-name="Python (my_env)"</a:t>
            </a:r>
            <a:endParaRPr lang="en-US" altLang="zh-CN"/>
          </a:p>
          <a:p>
            <a:r>
              <a:rPr lang="en-US" altLang="zh-CN"/>
              <a:t>(my_env should be your virtual env’s name!)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1985" y="1313815"/>
            <a:ext cx="5937250" cy="34036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1985" y="3560445"/>
            <a:ext cx="12077700" cy="2698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9" grpId="0"/>
      <p:bldP spid="9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A quick start for Jupyter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32500" y="631190"/>
            <a:ext cx="5392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>
                <a:highlight>
                  <a:srgbClr val="FFFF00"/>
                </a:highlight>
              </a:rPr>
              <a:t>If you know the Markdown for wrting notes</a:t>
            </a:r>
            <a:endParaRPr lang="en-US" altLang="zh-CN" sz="1800">
              <a:highlight>
                <a:srgbClr val="FFFF00"/>
              </a:highlight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95" y="1416685"/>
            <a:ext cx="11639550" cy="41148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95" y="1379220"/>
            <a:ext cx="11449050" cy="27622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1657350"/>
            <a:ext cx="12185650" cy="3543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A quick start for Jupyter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32500" y="631190"/>
            <a:ext cx="5392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>
                <a:highlight>
                  <a:srgbClr val="FFFF00"/>
                </a:highlight>
              </a:rPr>
              <a:t>Let us try some simple programs</a:t>
            </a:r>
            <a:endParaRPr lang="en-US" altLang="zh-CN" sz="1800">
              <a:highlight>
                <a:srgbClr val="FFFF00"/>
              </a:highligh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4210" y="144843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The </a:t>
            </a:r>
            <a:r>
              <a:rPr lang="en-US" altLang="zh-CN" i="1"/>
              <a:t>print()</a:t>
            </a:r>
            <a:r>
              <a:rPr lang="en-US" altLang="zh-CN"/>
              <a:t> function displays information on the screen.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62635" y="1893570"/>
            <a:ext cx="6096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Try print some!</a:t>
            </a:r>
            <a:endParaRPr lang="en-US" altLang="zh-CN"/>
          </a:p>
          <a:p>
            <a:pPr marL="342900" indent="-342900">
              <a:buAutoNum type="arabicPeriod"/>
            </a:pPr>
            <a:r>
              <a:rPr lang="en-US" altLang="zh-CN"/>
              <a:t>Your name</a:t>
            </a:r>
            <a:endParaRPr lang="en-US" altLang="zh-CN"/>
          </a:p>
          <a:p>
            <a:pPr marL="342900" indent="-342900">
              <a:buAutoNum type="arabicPeriod"/>
            </a:pPr>
            <a:r>
              <a:rPr lang="en-US" altLang="zh-CN"/>
              <a:t>Your number</a:t>
            </a:r>
            <a:endParaRPr lang="en-US" altLang="zh-CN"/>
          </a:p>
          <a:p>
            <a:pPr marL="342900" indent="-342900">
              <a:buAutoNum type="arabicPeriod"/>
            </a:pPr>
            <a:r>
              <a:rPr lang="en-US" altLang="zh-CN"/>
              <a:t>Some Basic Arithmetic</a:t>
            </a:r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0210" y="1153160"/>
            <a:ext cx="4572000" cy="260985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05485" y="3169285"/>
            <a:ext cx="702437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We can also define some variables (will be introduced later)</a:t>
            </a:r>
            <a:endParaRPr lang="en-US" altLang="zh-CN"/>
          </a:p>
          <a:p>
            <a:endParaRPr lang="en-US" altLang="zh-CN"/>
          </a:p>
          <a:p>
            <a:r>
              <a:rPr lang="en-US" altLang="zh-CN" u="sng"/>
              <a:t>Example: (pls print these codes in your Jupyter)</a:t>
            </a:r>
            <a:endParaRPr lang="en-US" altLang="zh-CN" u="sng"/>
          </a:p>
          <a:p>
            <a:r>
              <a:rPr lang="en-US" altLang="zh-CN"/>
              <a:t>price = 20</a:t>
            </a:r>
            <a:endParaRPr lang="en-US" altLang="zh-CN"/>
          </a:p>
          <a:p>
            <a:r>
              <a:rPr lang="en-US" altLang="zh-CN"/>
              <a:t>quantity = 3</a:t>
            </a:r>
            <a:endParaRPr lang="en-US" altLang="zh-CN"/>
          </a:p>
          <a:p>
            <a:r>
              <a:rPr lang="en-US" altLang="zh-CN"/>
              <a:t>total_cost = price * quantity</a:t>
            </a:r>
            <a:endParaRPr lang="en-US" altLang="zh-CN"/>
          </a:p>
          <a:p>
            <a:r>
              <a:rPr lang="en-US" altLang="zh-CN"/>
              <a:t>print(total_cost)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626745" y="5276215"/>
            <a:ext cx="702437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Jupyter can receive user input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Example: </a:t>
            </a:r>
            <a:endParaRPr lang="en-US" altLang="zh-CN"/>
          </a:p>
          <a:p>
            <a:r>
              <a:rPr lang="en-US" altLang="zh-CN"/>
              <a:t>name = input("Please enter your name: ")</a:t>
            </a:r>
            <a:endParaRPr lang="en-US" altLang="zh-CN"/>
          </a:p>
          <a:p>
            <a:r>
              <a:rPr lang="en-US" altLang="zh-CN"/>
              <a:t>print("Hello,", name)</a:t>
            </a:r>
            <a:endParaRPr lang="en-US" altLang="zh-CN"/>
          </a:p>
          <a:p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680710" y="455422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highlight>
                  <a:srgbClr val="FFFF00"/>
                </a:highlight>
              </a:rPr>
              <a:t>You can refer to the reading materials for more examples</a:t>
            </a:r>
            <a:endParaRPr lang="en-US" altLang="zh-CN"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7" grpId="0"/>
      <p:bldP spid="7" grpId="1"/>
      <p:bldP spid="8" grpId="0"/>
      <p:bldP spid="8" grpId="1"/>
      <p:bldP spid="11" grpId="0"/>
      <p:bldP spid="11" grpId="1"/>
      <p:bldP spid="12" grpId="0"/>
      <p:bldP spid="12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408940" y="1295400"/>
            <a:ext cx="11120005" cy="1568450"/>
            <a:chOff x="1152" y="2040"/>
            <a:chExt cx="17023" cy="2470"/>
          </a:xfrm>
        </p:grpSpPr>
        <p:sp>
          <p:nvSpPr>
            <p:cNvPr id="2" name="文本框 1"/>
            <p:cNvSpPr txBox="1"/>
            <p:nvPr/>
          </p:nvSpPr>
          <p:spPr>
            <a:xfrm>
              <a:off x="1152" y="2040"/>
              <a:ext cx="17023" cy="247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3200" dirty="0">
                  <a:highlight>
                    <a:srgbClr val="00FFFF"/>
                  </a:highlight>
                  <a:cs typeface="Times New Roman" panose="02020503050405090304" charset="0"/>
                  <a:sym typeface="+mn-ea"/>
                </a:rPr>
                <a:t>Given the three sides of a triangle, calculate its area. Hint: assume the side lengths are a, b, and c;the triangle area is s =</a:t>
              </a:r>
              <a:r>
                <a:rPr lang="en-US" altLang="zh-CN" sz="3200" dirty="0">
                  <a:highlight>
                    <a:srgbClr val="00FFFF"/>
                  </a:highlight>
                  <a:cs typeface="Times New Roman" panose="02020503050405090304" charset="0"/>
                  <a:sym typeface="+mn-ea"/>
                </a:rPr>
                <a:t>                  </a:t>
              </a:r>
              <a:r>
                <a:rPr lang="zh-CN" altLang="en-US" sz="3200" dirty="0">
                  <a:highlight>
                    <a:srgbClr val="00FFFF"/>
                  </a:highlight>
                  <a:cs typeface="Times New Roman" panose="02020503050405090304" charset="0"/>
                  <a:sym typeface="+mn-ea"/>
                </a:rPr>
                <a:t> </a:t>
              </a:r>
              <a:r>
                <a:rPr lang="en-US" altLang="zh-CN" sz="3200" dirty="0">
                  <a:highlight>
                    <a:srgbClr val="00FFFF"/>
                  </a:highlight>
                  <a:cs typeface="Times New Roman" panose="02020503050405090304" charset="0"/>
                  <a:sym typeface="+mn-ea"/>
                </a:rPr>
                <a:t>       </a:t>
              </a:r>
              <a:r>
                <a:rPr lang="zh-CN" altLang="en-US" sz="3200" dirty="0">
                  <a:highlight>
                    <a:srgbClr val="00FFFF"/>
                  </a:highlight>
                  <a:cs typeface="Times New Roman" panose="02020503050405090304" charset="0"/>
                  <a:sym typeface="+mn-ea"/>
                </a:rPr>
                <a:t>. Here, h is half of the triangle's perimeter.</a:t>
              </a:r>
              <a:endParaRPr lang="zh-CN" altLang="en-US" sz="3200" dirty="0">
                <a:highlight>
                  <a:srgbClr val="00FFFF"/>
                </a:highlight>
                <a:cs typeface="Times New Roman" panose="02020503050405090304" charset="0"/>
                <a:sym typeface="+mn-ea"/>
              </a:endParaRPr>
            </a:p>
          </p:txBody>
        </p:sp>
        <p:graphicFrame>
          <p:nvGraphicFramePr>
            <p:cNvPr id="16389" name="对象 7"/>
            <p:cNvGraphicFramePr>
              <a:graphicFrameLocks noChangeAspect="1"/>
            </p:cNvGraphicFramePr>
            <p:nvPr>
              <p:custDataLst>
                <p:tags r:id="rId1"/>
              </p:custDataLst>
            </p:nvPr>
          </p:nvGraphicFramePr>
          <p:xfrm>
            <a:off x="1784" y="3718"/>
            <a:ext cx="4195" cy="7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4" name="公式" r:id="rId2" imgW="1803400" imgH="254000" progId="Equation.3">
                    <p:embed/>
                  </p:oleObj>
                </mc:Choice>
                <mc:Fallback>
                  <p:oleObj name="公式" r:id="rId2" imgW="1803400" imgH="254000" progId="Equation.3">
                    <p:embed/>
                    <p:pic>
                      <p:nvPicPr>
                        <p:cNvPr id="0" name="对象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4" y="3718"/>
                          <a:ext cx="4195" cy="7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文本框 5"/>
          <p:cNvSpPr txBox="1"/>
          <p:nvPr/>
        </p:nvSpPr>
        <p:spPr>
          <a:xfrm>
            <a:off x="822325" y="3794760"/>
            <a:ext cx="10647680" cy="2754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What is the input? (What materials are needed to achieve the goal?)</a:t>
            </a:r>
            <a:endParaRPr lang="en-US" altLang="zh-CN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Side lengths? Perimeter?</a:t>
            </a:r>
            <a:endParaRPr lang="en-US" altLang="zh-CN" sz="2400"/>
          </a:p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What is the output?</a:t>
            </a:r>
            <a:endParaRPr lang="en-US" altLang="zh-CN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Perimeter? Area?</a:t>
            </a:r>
            <a:endParaRPr lang="en-US" altLang="zh-CN" sz="2400"/>
          </a:p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What is the operation?</a:t>
            </a:r>
            <a:endParaRPr lang="en-US" altLang="zh-CN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Calculation formula</a:t>
            </a:r>
            <a:endParaRPr lang="zh-CN" altLang="en-US" sz="2400"/>
          </a:p>
        </p:txBody>
      </p:sp>
      <p:sp>
        <p:nvSpPr>
          <p:cNvPr id="7" name="文本框 6"/>
          <p:cNvSpPr txBox="1"/>
          <p:nvPr/>
        </p:nvSpPr>
        <p:spPr>
          <a:xfrm>
            <a:off x="567055" y="631190"/>
            <a:ext cx="1027747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Example 2.1: Triangle Area </a:t>
            </a: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Formula Calculation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  <a:p>
            <a:pPr>
              <a:buFont typeface="Arial" panose="020B0604020202090204" pitchFamily="34" charset="0"/>
            </a:pP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42" name="文本框 1"/>
          <p:cNvSpPr txBox="1">
            <a:spLocks noChangeArrowheads="1"/>
          </p:cNvSpPr>
          <p:nvPr/>
        </p:nvSpPr>
        <p:spPr bwMode="auto">
          <a:xfrm>
            <a:off x="333375" y="2821305"/>
            <a:ext cx="11731625" cy="26765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</a:ln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zh-CN" sz="2400" b="1">
                <a:solidFill>
                  <a:srgbClr val="FF0000"/>
                </a:solidFill>
              </a:rPr>
              <a:t>import math</a:t>
            </a:r>
            <a:endParaRPr lang="zh-CN" altLang="zh-CN" sz="2400" b="1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zh-CN" sz="2400" b="1">
                <a:solidFill>
                  <a:srgbClr val="FF0000"/>
                </a:solidFill>
              </a:rPr>
              <a:t>a = 3.0</a:t>
            </a:r>
            <a:endParaRPr lang="zh-CN" altLang="zh-CN" sz="2400" b="1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zh-CN" sz="2400" b="1">
                <a:solidFill>
                  <a:srgbClr val="FF0000"/>
                </a:solidFill>
              </a:rPr>
              <a:t>b = 4.0</a:t>
            </a:r>
            <a:endParaRPr lang="zh-CN" altLang="zh-CN" sz="2400" b="1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zh-CN" sz="2400" b="1">
                <a:solidFill>
                  <a:srgbClr val="FF0000"/>
                </a:solidFill>
              </a:rPr>
              <a:t>c = 5.0</a:t>
            </a:r>
            <a:endParaRPr lang="zh-CN" altLang="zh-CN" sz="2400" b="1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zh-CN" sz="2400" b="1">
                <a:solidFill>
                  <a:srgbClr val="FF0000"/>
                </a:solidFill>
              </a:rPr>
              <a:t>h = (a + b + c) / 2                     </a:t>
            </a:r>
            <a:r>
              <a:rPr lang="en-US" altLang="zh-CN" sz="2400" b="1">
                <a:solidFill>
                  <a:srgbClr val="FF0000"/>
                </a:solidFill>
              </a:rPr>
              <a:t>              </a:t>
            </a:r>
            <a:r>
              <a:rPr lang="zh-CN" altLang="zh-CN" sz="2400" b="1">
                <a:solidFill>
                  <a:srgbClr val="FF0000"/>
                </a:solidFill>
              </a:rPr>
              <a:t>  </a:t>
            </a:r>
            <a:r>
              <a:rPr lang="zh-CN" altLang="zh-CN" sz="2400" b="1">
                <a:solidFill>
                  <a:srgbClr val="FF0000"/>
                </a:solidFill>
                <a:sym typeface="+mn-ea"/>
              </a:rPr>
              <a:t># half of the triangle perimeter</a:t>
            </a:r>
            <a:endParaRPr lang="zh-CN" altLang="zh-CN" sz="2400" b="1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zh-CN" sz="2400" b="1">
                <a:solidFill>
                  <a:srgbClr val="FF0000"/>
                </a:solidFill>
                <a:sym typeface="+mn-ea"/>
              </a:rPr>
              <a:t>s = math.sqrt(h*(h-a)*(h-b)*(h-c))          # triangle area</a:t>
            </a:r>
            <a:endParaRPr lang="zh-CN" altLang="zh-CN" sz="2400" b="1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zh-CN" sz="2400" b="1">
                <a:solidFill>
                  <a:srgbClr val="FF0000"/>
                </a:solidFill>
              </a:rPr>
              <a:t>print(s)</a:t>
            </a:r>
            <a:endParaRPr lang="zh-CN" altLang="zh-CN" sz="2400" b="1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7055" y="631190"/>
            <a:ext cx="1027747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Example 2.1: Triangle Area </a:t>
            </a: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Formula Calculation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  <a:p>
            <a:pPr>
              <a:buFont typeface="Arial" panose="020B0604020202090204" pitchFamily="34" charset="0"/>
            </a:pP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08940" y="1295400"/>
            <a:ext cx="1112000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dirty="0">
                <a:highlight>
                  <a:srgbClr val="00FFFF"/>
                </a:highlight>
                <a:cs typeface="Times New Roman" panose="02020503050405090304" charset="0"/>
                <a:sym typeface="+mn-ea"/>
              </a:rPr>
              <a:t>Given the three sides of a triangle, calculate its area. Hint: assume the side lengths are a, b, and c;the triangle area is s =</a:t>
            </a:r>
            <a:r>
              <a:rPr lang="en-US" altLang="zh-CN" sz="3200" dirty="0">
                <a:highlight>
                  <a:srgbClr val="00FFFF"/>
                </a:highlight>
                <a:cs typeface="Times New Roman" panose="02020503050405090304" charset="0"/>
                <a:sym typeface="+mn-ea"/>
              </a:rPr>
              <a:t>                  </a:t>
            </a:r>
            <a:r>
              <a:rPr lang="zh-CN" altLang="en-US" sz="3200" dirty="0">
                <a:highlight>
                  <a:srgbClr val="00FFFF"/>
                </a:highlight>
                <a:cs typeface="Times New Roman" panose="02020503050405090304" charset="0"/>
                <a:sym typeface="+mn-ea"/>
              </a:rPr>
              <a:t> </a:t>
            </a:r>
            <a:r>
              <a:rPr lang="en-US" altLang="zh-CN" sz="3200" dirty="0">
                <a:highlight>
                  <a:srgbClr val="00FFFF"/>
                </a:highlight>
                <a:cs typeface="Times New Roman" panose="02020503050405090304" charset="0"/>
                <a:sym typeface="+mn-ea"/>
              </a:rPr>
              <a:t>       </a:t>
            </a:r>
            <a:r>
              <a:rPr lang="zh-CN" altLang="en-US" sz="3200" dirty="0">
                <a:highlight>
                  <a:srgbClr val="00FFFF"/>
                </a:highlight>
                <a:cs typeface="Times New Roman" panose="02020503050405090304" charset="0"/>
                <a:sym typeface="+mn-ea"/>
              </a:rPr>
              <a:t>. Here, h is half of the triangle's perimeter.</a:t>
            </a:r>
            <a:endParaRPr lang="zh-CN" altLang="en-US" sz="3200" dirty="0">
              <a:highlight>
                <a:srgbClr val="00FFFF"/>
              </a:highlight>
              <a:cs typeface="Times New Roman" panose="02020503050405090304" charset="0"/>
              <a:sym typeface="+mn-ea"/>
            </a:endParaRPr>
          </a:p>
        </p:txBody>
      </p:sp>
      <p:graphicFrame>
        <p:nvGraphicFramePr>
          <p:cNvPr id="10" name="对象 7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821784" y="2360930"/>
          <a:ext cx="2740317" cy="502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公式" r:id="rId2" imgW="1803400" imgH="254000" progId="Equation.3">
                  <p:embed/>
                </p:oleObj>
              </mc:Choice>
              <mc:Fallback>
                <p:oleObj name="公式" r:id="rId2" imgW="1803400" imgH="254000" progId="Equation.3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1784" y="2360930"/>
                        <a:ext cx="2740317" cy="5029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Background: temperature scales</a:t>
            </a: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Celsius: used in China and most other countries</a:t>
            </a: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At 1 standard atmosphere, water freezes at 0 degrees and boils at 100 degrees; the scale is evenly divided.</a:t>
            </a:r>
            <a:endParaRPr lang="en-US" altLang="zh-CN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Fahrenheit: used in the United States, the United Kingdom, and other countries</a:t>
            </a: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At 1 standard atmosphere, water freezes at 32 degrees and boils at 212 degrees; the scale is evenly divided.</a:t>
            </a:r>
            <a:endParaRPr lang="en-US" altLang="zh-CN" sz="2400">
              <a:sym typeface="+mn-ea"/>
            </a:endParaRPr>
          </a:p>
          <a:p>
            <a:pPr marL="285750" lvl="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Requirements analysis</a:t>
            </a: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Convert Celsius to Fahrenheit</a:t>
            </a: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Convert Fahrenheit to Celsius</a:t>
            </a:r>
            <a:endParaRPr lang="zh-CN" altLang="en-US" sz="240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7055" y="631190"/>
            <a:ext cx="1064006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Example 2.2: Temperature </a:t>
            </a: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Conversion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  <a:p>
            <a:pPr>
              <a:buFont typeface="Arial" panose="020B0604020202090204" pitchFamily="34" charset="0"/>
            </a:pP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Problem analysis:</a:t>
            </a:r>
            <a:endParaRPr lang="en-US" altLang="zh-CN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Direct conversion</a:t>
            </a: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en-US" altLang="zh-CN" sz="2400">
                <a:sym typeface="+mn-ea"/>
              </a:rPr>
              <a:t>38</a:t>
            </a:r>
            <a:r>
              <a:rPr lang="en-US" altLang="en-US" sz="2400">
                <a:sym typeface="+mn-ea"/>
              </a:rPr>
              <a:t>°</a:t>
            </a:r>
            <a:r>
              <a:rPr lang="en-US" altLang="zh-CN" sz="2400">
                <a:sym typeface="+mn-ea"/>
              </a:rPr>
              <a:t>C --&gt; 100.4</a:t>
            </a:r>
            <a:r>
              <a:rPr lang="en-US" altLang="en-US" sz="2400">
                <a:sym typeface="+mn-ea"/>
              </a:rPr>
              <a:t>°</a:t>
            </a:r>
            <a:r>
              <a:rPr lang="en-US" altLang="zh-CN" sz="2400">
                <a:sym typeface="+mn-ea"/>
              </a:rPr>
              <a:t>F</a:t>
            </a:r>
            <a:endParaRPr lang="en-US" altLang="zh-CN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Understand and convert temperature information released as audio or images</a:t>
            </a: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Multimodal processing of images, audio, and more</a:t>
            </a: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Weather forecast</a:t>
            </a: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Monitor channels that publish temperature information, obtain values in real time, and convert them</a:t>
            </a: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Web crawler</a:t>
            </a: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zh-CN" altLang="en-US" sz="2400">
                <a:highlight>
                  <a:srgbClr val="FFFF00"/>
                </a:highlight>
                <a:sym typeface="+mn-ea"/>
              </a:rPr>
              <a:t>Difficulty increases!!</a:t>
            </a:r>
            <a:endParaRPr lang="en-US" altLang="zh-CN" sz="2400">
              <a:highlight>
                <a:srgbClr val="FFFF00"/>
              </a:highligh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7055" y="631190"/>
            <a:ext cx="1064006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Example 2.2: Temperature </a:t>
            </a: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Conversion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  <a:p>
            <a:pPr>
              <a:buFont typeface="Arial" panose="020B0604020202090204" pitchFamily="34" charset="0"/>
            </a:pP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We only focus on "direct conversion"</a:t>
            </a:r>
            <a:endParaRPr lang="en-US" altLang="zh-CN" sz="240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2400">
                <a:sym typeface="+mn-ea"/>
              </a:rPr>
              <a:t>Recall the problem-solving steps</a:t>
            </a:r>
            <a:endParaRPr lang="zh-CN" altLang="en-US" sz="2400"/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rgbClr val="FF0000"/>
                </a:solidFill>
                <a:sym typeface="+mn-ea"/>
              </a:rPr>
              <a:t>Plan the IPO - input, process, output</a:t>
            </a:r>
            <a:endParaRPr lang="en-US" altLang="zh-CN" sz="2400">
              <a:solidFill>
                <a:srgbClr val="FF0000"/>
              </a:solidFill>
              <a:sym typeface="+mn-ea"/>
            </a:endParaRPr>
          </a:p>
          <a:p>
            <a:pPr lvl="3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Input: a temperature marked as Fahrenheit or Celsius</a:t>
            </a:r>
            <a:endParaRPr lang="zh-CN" altLang="en-US" sz="2400">
              <a:solidFill>
                <a:schemeClr val="tx1"/>
              </a:solidFill>
              <a:sym typeface="+mn-ea"/>
            </a:endParaRPr>
          </a:p>
          <a:p>
            <a:pPr lvl="3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Process: conversion algorithm</a:t>
            </a:r>
            <a:endParaRPr lang="zh-CN" altLang="en-US" sz="2400">
              <a:solidFill>
                <a:schemeClr val="tx1"/>
              </a:solidFill>
              <a:sym typeface="+mn-ea"/>
            </a:endParaRPr>
          </a:p>
          <a:p>
            <a:pPr lvl="3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Output: a temperature marked as Fahrenheit or Celsius</a:t>
            </a:r>
            <a:endParaRPr lang="zh-CN" altLang="en-US" sz="2400">
              <a:sym typeface="+mn-ea"/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endParaRPr lang="zh-CN" altLang="en-US" sz="2400">
              <a:solidFill>
                <a:schemeClr val="tx1"/>
              </a:solidFill>
              <a:sym typeface="+mn-ea"/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Standardize the data format</a:t>
            </a:r>
            <a:endParaRPr lang="zh-CN" altLang="en-US" sz="2400">
              <a:sym typeface="+mn-ea"/>
            </a:endParaRPr>
          </a:p>
          <a:p>
            <a:pPr lvl="3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Put the temperature marker at the end: F means Fahrenheit, C means Celsius</a:t>
            </a:r>
            <a:endParaRPr lang="zh-CN" altLang="en-US" sz="2400">
              <a:sym typeface="+mn-ea"/>
            </a:endParaRPr>
          </a:p>
          <a:p>
            <a:pPr lvl="4" indent="-285750">
              <a:buFont typeface="Arial" panose="020B0604020202090204" pitchFamily="34" charset="0"/>
              <a:buChar char="•"/>
            </a:pPr>
            <a:r>
              <a:rPr lang="en-US" altLang="zh-CN" sz="2400">
                <a:sym typeface="+mn-ea"/>
              </a:rPr>
              <a:t>82F means 82 degrees Fahrenheit; 28C means 28 degrees Celsius</a:t>
            </a: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7055" y="631190"/>
            <a:ext cx="1064006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Example 2.2: Temperature </a:t>
            </a: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Conversion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  <a:p>
            <a:pPr>
              <a:buFont typeface="Arial" panose="020B0604020202090204" pitchFamily="34" charset="0"/>
            </a:pP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What approaches do we have?</a:t>
            </a:r>
            <a:endParaRPr lang="en-US" altLang="zh-CN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Direct mapping:</a:t>
            </a:r>
            <a:endParaRPr lang="en-US" altLang="zh-CN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Use a very large table that stores paired Celsius-Fahrenheit values</a:t>
            </a: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Look it up each time, for example 38C -&gt; 100.4F</a:t>
            </a:r>
            <a:endParaRPr lang="zh-CN" altLang="en-US" sz="2400"/>
          </a:p>
          <a:p>
            <a:pPr marL="1657350" lvl="3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Advantage: simple and direct (lookup)</a:t>
            </a:r>
            <a:endParaRPr lang="zh-CN" altLang="en-US" sz="2400"/>
          </a:p>
          <a:p>
            <a:pPr marL="1657350" lvl="3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Disadvantage: storage is cumbersome and not continuous</a:t>
            </a: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en-US" altLang="zh-CN" sz="2400">
                <a:sym typeface="+mn-ea"/>
              </a:rPr>
              <a:t>Not elegant, but simple</a:t>
            </a: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2" name="乘号 1"/>
          <p:cNvSpPr/>
          <p:nvPr/>
        </p:nvSpPr>
        <p:spPr>
          <a:xfrm>
            <a:off x="2715260" y="1406525"/>
            <a:ext cx="5925185" cy="3703320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67055" y="631190"/>
            <a:ext cx="1064006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Example 2.2: Temperature </a:t>
            </a: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Conversion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  <a:p>
            <a:pPr>
              <a:buFont typeface="Arial" panose="020B0604020202090204" pitchFamily="34" charset="0"/>
            </a:pP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What approaches do we have?</a:t>
            </a:r>
            <a:endParaRPr lang="en-US" altLang="zh-CN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Programming approach:</a:t>
            </a:r>
            <a:endParaRPr lang="en-US" altLang="zh-CN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Find the conversion rule between the two temperature scales</a:t>
            </a:r>
            <a:endParaRPr lang="zh-CN" altLang="en-US" sz="2400"/>
          </a:p>
          <a:p>
            <a:pPr marL="1657350" lvl="3" indent="-285750">
              <a:buFont typeface="Arial" panose="020B0604020202090204" pitchFamily="34" charset="0"/>
              <a:buChar char="•"/>
            </a:pPr>
            <a:r>
              <a:rPr lang="en-US" altLang="zh-CN" sz="2400">
                <a:sym typeface="+mn-ea"/>
              </a:rPr>
              <a:t>C = （F-32）/ 1.8</a:t>
            </a:r>
            <a:endParaRPr lang="en-US" altLang="zh-CN" sz="2400"/>
          </a:p>
          <a:p>
            <a:pPr marL="1657350" lvl="3" indent="-285750">
              <a:buFont typeface="Arial" panose="020B0604020202090204" pitchFamily="34" charset="0"/>
              <a:buChar char="•"/>
            </a:pPr>
            <a:r>
              <a:rPr lang="en-US" altLang="zh-CN" sz="2400">
                <a:sym typeface="+mn-ea"/>
              </a:rPr>
              <a:t>F =  C*1.8 + 32</a:t>
            </a: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Determine whether the input is Fahrenheit or Celsius</a:t>
            </a: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Convert according to the rule</a:t>
            </a: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7055" y="631190"/>
            <a:ext cx="1064006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Example 2.2: Temperature </a:t>
            </a: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Conversion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  <a:p>
            <a:pPr>
              <a:buFont typeface="Arial" panose="020B0604020202090204" pitchFamily="34" charset="0"/>
            </a:pP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05040" y="1090295"/>
            <a:ext cx="4780915" cy="6222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2000">
                <a:sym typeface="+mn-ea"/>
              </a:rPr>
              <a:t>Apply the idea to similar cases</a:t>
            </a:r>
            <a:endParaRPr lang="en-US" altLang="zh-CN" sz="2000"/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zh-CN" altLang="en-US" sz="2000">
                <a:sym typeface="+mn-ea"/>
              </a:rPr>
              <a:t>Understand what each line of code means</a:t>
            </a:r>
            <a:endParaRPr lang="zh-CN" altLang="en-US" sz="2000"/>
          </a:p>
          <a:p>
            <a:pPr lvl="3" indent="-285750">
              <a:buFont typeface="Arial" panose="020B0604020202090204" pitchFamily="34" charset="0"/>
              <a:buChar char="•"/>
            </a:pPr>
            <a:r>
              <a:rPr lang="zh-CN" altLang="en-US" sz="2000">
                <a:sym typeface="+mn-ea"/>
              </a:rPr>
              <a:t>Look up unfamiliar functions in the documentation</a:t>
            </a:r>
            <a:endParaRPr lang="en-US" altLang="zh-CN" sz="2000">
              <a:solidFill>
                <a:srgbClr val="FF0000"/>
              </a:solidFill>
              <a:sym typeface="+mn-ea"/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zh-CN" altLang="en-US" sz="2000">
                <a:sym typeface="+mn-ea"/>
              </a:rPr>
              <a:t>Try modifying part of the structure</a:t>
            </a:r>
            <a:endParaRPr lang="zh-CN" altLang="en-US" sz="2000">
              <a:sym typeface="+mn-ea"/>
            </a:endParaRPr>
          </a:p>
          <a:p>
            <a:pPr lvl="3" indent="-285750">
              <a:buFont typeface="Arial" panose="020B0604020202090204" pitchFamily="34" charset="0"/>
              <a:buChar char="•"/>
            </a:pPr>
            <a:r>
              <a:rPr lang="en-US" altLang="zh-CN" sz="2000">
                <a:sym typeface="+mn-ea"/>
              </a:rPr>
              <a:t>The relationship between F and C</a:t>
            </a:r>
            <a:endParaRPr lang="zh-CN" altLang="en-US" sz="2000">
              <a:sym typeface="+mn-ea"/>
            </a:endParaRPr>
          </a:p>
          <a:p>
            <a:pPr lvl="3" indent="-285750">
              <a:buFont typeface="Arial" panose="020B0604020202090204" pitchFamily="34" charset="0"/>
              <a:buChar char="•"/>
            </a:pPr>
            <a:r>
              <a:rPr lang="zh-CN" altLang="en-US" sz="2000">
                <a:sym typeface="+mn-ea"/>
              </a:rPr>
              <a:t>The input data format</a:t>
            </a:r>
            <a:endParaRPr lang="zh-CN" altLang="en-US" sz="2000">
              <a:sym typeface="+mn-ea"/>
            </a:endParaRPr>
          </a:p>
          <a:p>
            <a:pPr lvl="4" indent="-285750">
              <a:buFont typeface="Arial" panose="020B0604020202090204" pitchFamily="34" charset="0"/>
              <a:buChar char="•"/>
            </a:pPr>
            <a:r>
              <a:rPr lang="en-US" altLang="zh-CN" sz="2000">
                <a:sym typeface="+mn-ea"/>
              </a:rPr>
              <a:t>C82 F28</a:t>
            </a:r>
            <a:endParaRPr lang="en-US" altLang="zh-CN" sz="2000">
              <a:sym typeface="+mn-ea"/>
            </a:endParaRPr>
          </a:p>
          <a:p>
            <a:pPr lvl="4" indent="-285750">
              <a:buFont typeface="Arial" panose="020B0604020202090204" pitchFamily="34" charset="0"/>
              <a:buChar char="•"/>
            </a:pPr>
            <a:r>
              <a:rPr lang="en-US" altLang="zh-CN" sz="2000">
                <a:sym typeface="+mn-ea"/>
              </a:rPr>
              <a:t>82Ce 28F-</a:t>
            </a:r>
            <a:endParaRPr lang="en-US" altLang="zh-CN" sz="2000">
              <a:sym typeface="+mn-ea"/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zh-CN" altLang="en-US" sz="2000">
                <a:sym typeface="+mn-ea"/>
              </a:rPr>
              <a:t>Temperature conversion is a representative example of many conversion problems</a:t>
            </a:r>
            <a:endParaRPr lang="zh-CN" altLang="en-US" sz="2000">
              <a:sym typeface="+mn-ea"/>
            </a:endParaRPr>
          </a:p>
          <a:p>
            <a:pPr lvl="3" indent="-285750">
              <a:buFont typeface="Arial" panose="020B0604020202090204" pitchFamily="34" charset="0"/>
              <a:buChar char="•"/>
            </a:pPr>
            <a:r>
              <a:rPr lang="zh-CN" altLang="en-US" sz="2000">
                <a:sym typeface="+mn-ea"/>
              </a:rPr>
              <a:t>Currency conversion</a:t>
            </a:r>
            <a:endParaRPr lang="zh-CN" altLang="en-US" sz="2000">
              <a:sym typeface="+mn-ea"/>
            </a:endParaRPr>
          </a:p>
          <a:p>
            <a:pPr lvl="3" indent="-285750">
              <a:buFont typeface="Arial" panose="020B0604020202090204" pitchFamily="34" charset="0"/>
              <a:buChar char="•"/>
            </a:pPr>
            <a:r>
              <a:rPr lang="zh-CN" altLang="en-US" sz="2000">
                <a:sym typeface="+mn-ea"/>
              </a:rPr>
              <a:t>Length conversion</a:t>
            </a:r>
            <a:endParaRPr lang="zh-CN" altLang="en-US" sz="2000">
              <a:sym typeface="+mn-ea"/>
            </a:endParaRPr>
          </a:p>
          <a:p>
            <a:pPr lvl="3" indent="-285750">
              <a:buFont typeface="Arial" panose="020B0604020202090204" pitchFamily="34" charset="0"/>
              <a:buChar char="•"/>
            </a:pPr>
            <a:r>
              <a:rPr lang="zh-CN" altLang="en-US" sz="2000">
                <a:sym typeface="+mn-ea"/>
              </a:rPr>
              <a:t>Weight conversion</a:t>
            </a:r>
            <a:endParaRPr lang="en-US" altLang="zh-CN" sz="2000">
              <a:solidFill>
                <a:schemeClr val="tx1"/>
              </a:solidFill>
            </a:endParaRPr>
          </a:p>
          <a:p>
            <a:pPr lvl="1">
              <a:buFont typeface="Arial" panose="020B0604020202090204" pitchFamily="34" charset="0"/>
            </a:pPr>
            <a:endParaRPr lang="en-US" altLang="zh-CN" sz="20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67055" y="631190"/>
            <a:ext cx="1064006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Example 2.2: Temperature </a:t>
            </a: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Conversion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  <a:p>
            <a:pPr>
              <a:buFont typeface="Arial" panose="020B0604020202090204" pitchFamily="34" charset="0"/>
            </a:pP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325" y="1767840"/>
            <a:ext cx="6197600" cy="4241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920750" y="1253490"/>
            <a:ext cx="10149205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>
              <a:buFontTx/>
              <a:buChar char="•"/>
            </a:pPr>
            <a:r>
              <a:rPr lang="en-US" altLang="zh-CN" sz="2800">
                <a:ea typeface="宋体" pitchFamily="2" charset="-122"/>
                <a:sym typeface="+mn-ea"/>
              </a:rPr>
              <a:t>Key Points</a:t>
            </a:r>
            <a:r>
              <a:rPr lang="en-US" sz="2800">
                <a:ea typeface="宋体" pitchFamily="2" charset="-122"/>
                <a:sym typeface="+mn-ea"/>
              </a:rPr>
              <a:t>:</a:t>
            </a:r>
            <a:endParaRPr lang="zh-CN" altLang="en-US" sz="2800">
              <a:ea typeface="宋体" pitchFamily="2" charset="-122"/>
            </a:endParaRPr>
          </a:p>
          <a:p>
            <a:pPr marL="800100" lvl="1" indent="-342900" algn="l" eaLnBrk="1" hangingPunct="1">
              <a:buFont typeface="Wingdings" panose="05000000000000000000" pitchFamily="2" charset="2"/>
              <a:buChar char="ü"/>
            </a:pPr>
            <a:r>
              <a:rPr lang="en-US" altLang="zh-CN" sz="2800" b="1">
                <a:ea typeface="宋体" pitchFamily="2" charset="-122"/>
                <a:sym typeface="+mn-ea"/>
              </a:rPr>
              <a:t>2.1 </a:t>
            </a:r>
            <a:r>
              <a:rPr lang="en-US" altLang="zh-CN" sz="2800" b="1">
                <a:ea typeface="宋体" pitchFamily="2" charset="-122"/>
              </a:rPr>
              <a:t>Basic Python syntax</a:t>
            </a:r>
            <a:endParaRPr lang="en-US" altLang="zh-CN" sz="2800" b="1">
              <a:ea typeface="宋体" pitchFamily="2" charset="-122"/>
            </a:endParaRPr>
          </a:p>
          <a:p>
            <a:pPr marL="800100" lvl="1" indent="-342900" algn="l" eaLnBrk="1" hangingPunct="1">
              <a:buFont typeface="Wingdings" panose="05000000000000000000" pitchFamily="2" charset="2"/>
              <a:buChar char="ü"/>
            </a:pPr>
            <a:r>
              <a:rPr lang="en-US" altLang="zh-CN" sz="2800" b="1">
                <a:ea typeface="宋体" pitchFamily="2" charset="-122"/>
                <a:sym typeface="+mn-ea"/>
              </a:rPr>
              <a:t>2.2 </a:t>
            </a:r>
            <a:r>
              <a:rPr lang="en-US" altLang="zh-CN" sz="2800" b="1">
                <a:ea typeface="宋体" pitchFamily="2" charset="-122"/>
              </a:rPr>
              <a:t>Variables and constants</a:t>
            </a:r>
            <a:endParaRPr lang="en-US" altLang="zh-CN" sz="2800" b="1">
              <a:ea typeface="宋体" pitchFamily="2" charset="-122"/>
            </a:endParaRPr>
          </a:p>
          <a:p>
            <a:pPr marL="800100" lvl="1" indent="-342900" algn="l" eaLnBrk="1" hangingPunct="1">
              <a:buFont typeface="Wingdings" panose="05000000000000000000" pitchFamily="2" charset="2"/>
              <a:buChar char="ü"/>
            </a:pPr>
            <a:r>
              <a:rPr lang="en-US" altLang="zh-CN" sz="2800" b="1">
                <a:ea typeface="宋体" pitchFamily="2" charset="-122"/>
                <a:sym typeface="+mn-ea"/>
              </a:rPr>
              <a:t>2.3 </a:t>
            </a:r>
            <a:r>
              <a:rPr lang="en-US" altLang="zh-CN" sz="2800" b="1">
                <a:ea typeface="宋体" pitchFamily="2" charset="-122"/>
              </a:rPr>
              <a:t>Identifiers and naming rules</a:t>
            </a:r>
            <a:endParaRPr lang="en-US" altLang="zh-CN" sz="2800" b="1">
              <a:ea typeface="宋体" pitchFamily="2" charset="-122"/>
            </a:endParaRPr>
          </a:p>
          <a:p>
            <a:pPr marL="800100" lvl="1" indent="-342900" algn="l" eaLnBrk="1" hangingPunct="1">
              <a:buFont typeface="Wingdings" panose="05000000000000000000" pitchFamily="2" charset="2"/>
              <a:buChar char="ü"/>
            </a:pPr>
            <a:r>
              <a:rPr lang="en-US" altLang="zh-CN" sz="2800" b="1">
                <a:ea typeface="宋体" pitchFamily="2" charset="-122"/>
                <a:sym typeface="+mn-ea"/>
              </a:rPr>
              <a:t>2.4 </a:t>
            </a:r>
            <a:r>
              <a:rPr lang="en-US" altLang="zh-CN" sz="2800" b="1">
                <a:ea typeface="宋体" pitchFamily="2" charset="-122"/>
              </a:rPr>
              <a:t>Basic data types</a:t>
            </a:r>
            <a:endParaRPr lang="en-US" altLang="zh-CN" sz="2800" b="1">
              <a:ea typeface="宋体" pitchFamily="2" charset="-122"/>
            </a:endParaRPr>
          </a:p>
          <a:p>
            <a:pPr marL="800100" lvl="1" indent="-342900" algn="l" eaLnBrk="1" hangingPunct="1">
              <a:buFont typeface="Wingdings" panose="05000000000000000000" pitchFamily="2" charset="2"/>
              <a:buChar char="ü"/>
            </a:pPr>
            <a:r>
              <a:rPr lang="en-US" altLang="zh-CN" sz="2800" b="1">
                <a:ea typeface="宋体" pitchFamily="2" charset="-122"/>
              </a:rPr>
              <a:t>2.5 Comments</a:t>
            </a:r>
            <a:endParaRPr lang="en-US" altLang="zh-CN" sz="2800" b="1">
              <a:ea typeface="宋体" pitchFamily="2" charset="-122"/>
            </a:endParaRPr>
          </a:p>
          <a:p>
            <a:pPr marL="800100" lvl="1" indent="-342900" algn="l" eaLnBrk="1" hangingPunct="1">
              <a:buFont typeface="Wingdings" panose="05000000000000000000" pitchFamily="2" charset="2"/>
              <a:buChar char="ü"/>
            </a:pPr>
            <a:r>
              <a:rPr lang="en-US" altLang="zh-CN" sz="2800" b="1">
                <a:ea typeface="宋体" pitchFamily="2" charset="-122"/>
              </a:rPr>
              <a:t>2.6 Input and output</a:t>
            </a:r>
            <a:endParaRPr lang="en-US" altLang="zh-CN" sz="2800" b="1">
              <a:ea typeface="宋体" pitchFamily="2" charset="-122"/>
            </a:endParaRPr>
          </a:p>
          <a:p>
            <a:pPr marL="800100" lvl="1" indent="-342900" algn="l" eaLnBrk="1" hangingPunct="1">
              <a:buFont typeface="Wingdings" panose="05000000000000000000" pitchFamily="2" charset="2"/>
              <a:buChar char="ü"/>
            </a:pPr>
            <a:r>
              <a:rPr lang="en-US" altLang="zh-CN" sz="2800" b="1">
                <a:ea typeface="宋体" pitchFamily="2" charset="-122"/>
              </a:rPr>
              <a:t>2.7 Basic operators and expressions</a:t>
            </a:r>
            <a:endParaRPr lang="en-US" altLang="zh-CN" sz="2800" b="1">
              <a:ea typeface="宋体" pitchFamily="2" charset="-122"/>
            </a:endParaRPr>
          </a:p>
          <a:p>
            <a:pPr marL="800100" lvl="1" indent="-342900" algn="l" eaLnBrk="1" hangingPunct="1">
              <a:buFont typeface="Wingdings" panose="05000000000000000000" pitchFamily="2" charset="2"/>
              <a:buChar char="ü"/>
            </a:pPr>
            <a:r>
              <a:rPr lang="en-US" altLang="zh-CN" sz="2800" b="1">
                <a:ea typeface="宋体" pitchFamily="2" charset="-122"/>
                <a:sym typeface="+mn-ea"/>
              </a:rPr>
              <a:t>2.8 </a:t>
            </a:r>
            <a:r>
              <a:rPr lang="en-US" altLang="zh-CN" sz="2800" b="1">
                <a:ea typeface="宋体" pitchFamily="2" charset="-122"/>
                <a:sym typeface="+mn-ea"/>
              </a:rPr>
              <a:t>A case analysis (Temperature Transformation)</a:t>
            </a:r>
            <a:endParaRPr lang="en-US" altLang="zh-CN" sz="2800" b="1"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Basic Program Structure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7690" y="1273175"/>
            <a:ext cx="5149215" cy="5584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</a:rPr>
              <a:t>One line of code is one command</a:t>
            </a:r>
            <a:endParaRPr lang="zh-CN" altLang="en-US" sz="2000">
              <a:solidFill>
                <a:schemeClr val="tx1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000">
              <a:solidFill>
                <a:schemeClr val="tx1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</a:rPr>
              <a:t>Code color does not affect execution</a:t>
            </a:r>
            <a:endParaRPr lang="zh-CN" altLang="en-US" sz="20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</a:rPr>
              <a:t>It depends on the interpreter or editor</a:t>
            </a:r>
            <a:endParaRPr lang="zh-CN" altLang="en-US" sz="20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00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</a:rPr>
              <a:t>Indentation: the blank space before a line of code; it shows the program structure</a:t>
            </a:r>
            <a:endParaRPr lang="zh-CN" altLang="en-US" sz="20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</a:rPr>
              <a:t>Indentation errors cause program errors (IndentationError)</a:t>
            </a:r>
            <a:endParaRPr lang="en-US" altLang="zh-CN" sz="20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</a:rPr>
              <a:t>Shows containment and hierarchy</a:t>
            </a:r>
            <a:endParaRPr lang="zh-CN" altLang="en-US" sz="2000">
              <a:solidFill>
                <a:schemeClr val="tx1"/>
              </a:solidFill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en-US" altLang="zh-CN" sz="2000">
                <a:solidFill>
                  <a:schemeClr val="tx1"/>
                </a:solidFill>
              </a:rPr>
              <a:t>if, while, for</a:t>
            </a:r>
            <a:endParaRPr lang="en-US" altLang="zh-CN" sz="2000">
              <a:solidFill>
                <a:schemeClr val="tx1"/>
              </a:solidFill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</a:rPr>
              <a:t>Function definitions, etc.</a:t>
            </a:r>
            <a:endParaRPr lang="zh-CN" altLang="en-US" sz="200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</a:rPr>
              <a:t>Comments: improve readability</a:t>
            </a:r>
            <a:endParaRPr lang="zh-CN" altLang="en-US" sz="20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</a:rPr>
              <a:t>Use # or '''xxx'''</a:t>
            </a:r>
            <a:endParaRPr lang="zh-CN" altLang="en-US" sz="20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</a:rPr>
              <a:t>There are some interesting things about comments</a:t>
            </a:r>
            <a:endParaRPr lang="zh-CN" altLang="en-US" sz="20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000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6905" y="1273810"/>
            <a:ext cx="6197600" cy="4241800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6187440" y="2687320"/>
            <a:ext cx="1095375" cy="369570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6805930" y="2352040"/>
            <a:ext cx="1095375" cy="369570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6187440" y="3804920"/>
            <a:ext cx="1095375" cy="369570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6187440" y="4591685"/>
            <a:ext cx="1095375" cy="369570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6976745" y="1570355"/>
            <a:ext cx="1095375" cy="369570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525770" y="1200150"/>
            <a:ext cx="2873375" cy="370205"/>
          </a:xfrm>
          <a:prstGeom prst="rect">
            <a:avLst/>
          </a:prstGeom>
          <a:noFill/>
          <a:ln w="28575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85765" y="3429000"/>
            <a:ext cx="833120" cy="630555"/>
          </a:xfrm>
          <a:prstGeom prst="rect">
            <a:avLst/>
          </a:prstGeom>
          <a:noFill/>
          <a:ln w="28575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525770" y="4505960"/>
            <a:ext cx="833120" cy="630555"/>
          </a:xfrm>
          <a:prstGeom prst="rect">
            <a:avLst/>
          </a:prstGeom>
          <a:noFill/>
          <a:ln w="28575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652770" y="2479040"/>
            <a:ext cx="833120" cy="630555"/>
          </a:xfrm>
          <a:prstGeom prst="rect">
            <a:avLst/>
          </a:prstGeom>
          <a:noFill/>
          <a:ln w="28575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850" y="554990"/>
            <a:ext cx="5803900" cy="57023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1030" y="631190"/>
            <a:ext cx="6781800" cy="56261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885" y="300990"/>
            <a:ext cx="5689600" cy="5956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11" grpId="0" bldLvl="0" animBg="1"/>
      <p:bldP spid="5" grpId="0" bldLvl="0" animBg="1"/>
      <p:bldP spid="9" grpId="0" bldLvl="0" animBg="1"/>
      <p:bldP spid="10" grpId="0" bldLvl="0" animBg="1"/>
      <p:bldP spid="8" grpId="1" animBg="1"/>
      <p:bldP spid="11" grpId="1" animBg="1"/>
      <p:bldP spid="5" grpId="1" animBg="1"/>
      <p:bldP spid="9" grpId="1" animBg="1"/>
      <p:bldP spid="10" grpId="1" animBg="1"/>
      <p:bldP spid="12" grpId="0" bldLvl="0" animBg="1"/>
      <p:bldP spid="13" grpId="0" bldLvl="0" animBg="1"/>
      <p:bldP spid="14" grpId="0" bldLvl="0" animBg="1"/>
      <p:bldP spid="12" grpId="1" animBg="1"/>
      <p:bldP spid="13" grpId="1" animBg="1"/>
      <p:bldP spid="14" grpId="1" animBg="1"/>
      <p:bldP spid="15" grpId="0" bldLvl="0" animBg="1"/>
      <p:bldP spid="15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895350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Variables and Constants in </a:t>
            </a: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Programs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  <a:p>
            <a:pPr>
              <a:buFont typeface="Arial" panose="020B0604020202090204" pitchFamily="34" charset="0"/>
            </a:pP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600" y="1273810"/>
            <a:ext cx="10140315" cy="5584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A variable is a name used to store a value.</a:t>
            </a:r>
            <a:endParaRPr lang="zh-CN" altLang="en-US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variable name = value</a:t>
            </a:r>
            <a:endParaRPr lang="en-US" altLang="zh-CN" sz="2400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15" y="1994535"/>
            <a:ext cx="11696700" cy="13906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15" y="3385185"/>
            <a:ext cx="11601450" cy="2400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67055" y="631190"/>
            <a:ext cx="875284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Variables and Constants in Programs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  <a:p>
            <a:pPr>
              <a:buFont typeface="Arial" panose="020B0604020202090204" pitchFamily="34" charset="0"/>
            </a:pP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67055" y="1273810"/>
            <a:ext cx="10182860" cy="5584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A constant is a value that is not expected to change during a program.</a:t>
            </a:r>
            <a:endParaRPr lang="en-US" altLang="zh-CN" sz="2400">
              <a:solidFill>
                <a:schemeClr val="tx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125" y="2571750"/>
            <a:ext cx="11715750" cy="1714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文本框 13"/>
          <p:cNvSpPr txBox="1"/>
          <p:nvPr/>
        </p:nvSpPr>
        <p:spPr>
          <a:xfrm>
            <a:off x="567055" y="631190"/>
            <a:ext cx="1008507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Variables and Constants in Programs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  <a:p>
            <a:pPr>
              <a:buFont typeface="Arial" panose="020B0604020202090204" pitchFamily="34" charset="0"/>
            </a:pP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67690" y="1273175"/>
            <a:ext cx="5149215" cy="5584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In the example</a:t>
            </a:r>
            <a:endParaRPr lang="zh-CN" altLang="en-US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TempStr, C, F</a:t>
            </a:r>
            <a:endParaRPr lang="zh-CN" altLang="en-US" sz="240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Variables</a:t>
            </a:r>
            <a:endParaRPr lang="zh-CN" altLang="en-US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Variables in Python do not need to be declared. They must be assigned before use.</a:t>
            </a:r>
            <a:endParaRPr lang="zh-CN" altLang="en-US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A variable is created only after it is assigned a value.</a:t>
            </a:r>
            <a:endParaRPr lang="zh-CN" altLang="en-US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Assign or change a variable: =</a:t>
            </a:r>
            <a:endParaRPr lang="en-US" altLang="zh-CN" sz="2400">
              <a:solidFill>
                <a:schemeClr val="tx1"/>
              </a:solidFill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en-US" altLang="zh-CN" sz="2400">
                <a:sym typeface="+mn-ea"/>
              </a:rPr>
              <a:t>C = “82F”</a:t>
            </a:r>
            <a:endParaRPr lang="en-US" altLang="zh-CN" sz="2400">
              <a:sym typeface="+mn-ea"/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>
              <a:solidFill>
                <a:schemeClr val="tx1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6905" y="1273810"/>
            <a:ext cx="6197600" cy="4241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19405" y="2302510"/>
            <a:ext cx="957707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Identifier Naming Rules:</a:t>
            </a:r>
            <a:endParaRPr lang="en-US" altLang="zh-CN" sz="2400">
              <a:sym typeface="+mn-ea"/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May contain uppercase letters, lowercase letters, digits, and underscores</a:t>
            </a:r>
            <a:endParaRPr lang="zh-CN" altLang="en-US" sz="2400">
              <a:solidFill>
                <a:schemeClr val="tx1"/>
              </a:solidFill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en-US" altLang="zh-CN" sz="2400">
                <a:sym typeface="+mn-ea"/>
              </a:rPr>
              <a:t>TempStr, var1, var2</a:t>
            </a:r>
            <a:endParaRPr lang="en-US" altLang="zh-CN" sz="2400">
              <a:solidFill>
                <a:schemeClr val="tx1"/>
              </a:solidFill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Case-sensitive: Temp is not the same as temp</a:t>
            </a:r>
            <a:endParaRPr lang="en-US" altLang="zh-CN" sz="2400">
              <a:solidFill>
                <a:schemeClr val="tx1"/>
              </a:solidFill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The first character cannot be a digit</a:t>
            </a:r>
            <a:endParaRPr lang="zh-CN" altLang="en-US" sz="2400">
              <a:solidFill>
                <a:schemeClr val="tx1"/>
              </a:solidFill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Cannot be the same as a reserved word</a:t>
            </a:r>
            <a:endParaRPr lang="zh-CN" altLang="en-US" sz="2400">
              <a:sym typeface="+mn-ea"/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Cannot contain spaces</a:t>
            </a:r>
            <a:endParaRPr lang="zh-CN" altLang="en-US" sz="240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67055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Variable Naming Rules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6905" y="1225550"/>
            <a:ext cx="110509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An identifier is a name used for a variable, function, class, or other object in a program.</a:t>
            </a:r>
            <a:endParaRPr lang="en-US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Naming and Reserved Words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7690" y="1273175"/>
            <a:ext cx="5149215" cy="5584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Reserved words: identifiers defined and reserved by Python internally</a:t>
            </a:r>
            <a:endParaRPr lang="zh-CN" altLang="en-US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Python has 33 reserved words</a:t>
            </a:r>
            <a:endParaRPr lang="zh-CN" altLang="en-US" sz="2400">
              <a:solidFill>
                <a:schemeClr val="tx1"/>
              </a:solidFill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if, else, elif, in</a:t>
            </a: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Basic words; case-sensitive</a:t>
            </a:r>
            <a:endParaRPr lang="zh-CN" altLang="en-US" sz="2400">
              <a:solidFill>
                <a:schemeClr val="tx1"/>
              </a:solidFill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if and IF?</a:t>
            </a:r>
            <a:endParaRPr lang="en-US" altLang="zh-CN" sz="2400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6905" y="1273810"/>
            <a:ext cx="6197600" cy="4241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946912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Naming and Reserved Words </a:t>
            </a: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(Keywords)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  <a:p>
            <a:pPr>
              <a:buFont typeface="Arial" panose="020B0604020202090204" pitchFamily="34" charset="0"/>
            </a:pP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2400"/>
              <a:t>View Python reserved words</a:t>
            </a: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 sz="2400"/>
              <a:t>import keyword</a:t>
            </a:r>
            <a:endParaRPr lang="en-US" altLang="zh-CN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 sz="2400"/>
              <a:t>print(keyword.kwlist)</a:t>
            </a:r>
            <a:endParaRPr lang="en-US" altLang="zh-CN" sz="2400"/>
          </a:p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en-US" altLang="zh-CN" sz="2400"/>
              <a:t>Python 3.8:</a:t>
            </a:r>
            <a:endParaRPr lang="en-US" altLang="zh-CN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 sz="2400"/>
              <a:t>['False', 'None', 'True', 'and', 'as', 'assert', 'async', 'await', 'break', 'class', 'continue', 'def', 'del', 'elif', 'else', 'except', 'finally', 'for', 'from', 'global', 'if', 'import', 'in', 'is', 'lambda', 'nonlocal', 'not', 'or', 'pass', 'raise', 'return', 'try', 'while', 'with', 'yield']</a:t>
            </a:r>
            <a:endParaRPr lang="en-US" altLang="zh-CN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265" y="4330065"/>
            <a:ext cx="11506200" cy="152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Naming and Reserved Words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zh-CN" altLang="en-US" sz="2400"/>
              <a:t>Value Keywords</a:t>
            </a: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/>
              <a:t>These keywords represent specific values:</a:t>
            </a: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zh-CN" altLang="en-US" sz="2400"/>
              <a:t>Operator Keywords</a:t>
            </a: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/>
              <a:t>Logic and Boolean operations:</a:t>
            </a: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984885" y="2176780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FFFFFF"/>
                          </a:solidFill>
                          <a:latin typeface="Times New Roman Regular" panose="02020503050405090304" charset="0"/>
                          <a:ea typeface="Helvetica Neue" panose="02000503000000020004"/>
                        </a:rPr>
                        <a:t>Keyword</a:t>
                      </a:r>
                      <a:endParaRPr lang="zh-CN" altLang="en-US" sz="1100" b="0" i="0">
                        <a:solidFill>
                          <a:srgbClr val="FFFFFF"/>
                        </a:solidFill>
                        <a:latin typeface="Times New Roman Regular" panose="02020503050405090304" charset="0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FFFFFF"/>
                          </a:solidFill>
                          <a:latin typeface="Times New Roman Regular" panose="02020503050405090304" charset="0"/>
                          <a:ea typeface="Helvetica Neue" panose="02000503000000020004"/>
                        </a:rPr>
                        <a:t>Description</a:t>
                      </a:r>
                      <a:endParaRPr lang="zh-CN" altLang="en-US" sz="1100" b="0" i="0">
                        <a:solidFill>
                          <a:srgbClr val="FFFFFF"/>
                        </a:solidFill>
                        <a:latin typeface="Times New Roman Regular" panose="02020503050405090304" charset="0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FFFFFF"/>
                          </a:solidFill>
                          <a:latin typeface="Times New Roman Regular" panose="02020503050405090304" charset="0"/>
                          <a:ea typeface="Helvetica Neue" panose="02000503000000020004"/>
                        </a:rPr>
                        <a:t>Example</a:t>
                      </a:r>
                      <a:endParaRPr lang="zh-CN" altLang="en-US" sz="1100" b="0" i="0">
                        <a:solidFill>
                          <a:srgbClr val="FFFFFF"/>
                        </a:solidFill>
                        <a:latin typeface="Times New Roman Regular" panose="02020503050405090304" charset="0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Times New Roman Regular" panose="02020503050405090304" charset="0"/>
                          <a:ea typeface="Helvetica Neue" panose="02000503000000020004"/>
                          <a:cs typeface="Times New Roman Regular" panose="02020503050405090304" charset="0"/>
                        </a:rPr>
                        <a:t>True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Times New Roman Regular" panose="02020503050405090304" charset="0"/>
                        <a:ea typeface="Helvetica Neue" panose="02000503000000020004"/>
                        <a:cs typeface="Times New Roman Regular" panose="02020503050405090304" charset="0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Times New Roman Regular" panose="02020503050405090304" charset="0"/>
                          <a:ea typeface="Helvetica Neue" panose="02000503000000020004"/>
                        </a:rPr>
                        <a:t>Boolean true value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Times New Roman Regular" panose="02020503050405090304" charset="0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Times New Roman Regular" panose="02020503050405090304" charset="0"/>
                          <a:ea typeface="Helvetica Neue" panose="02000503000000020004"/>
                          <a:cs typeface="Times New Roman Regular" panose="02020503050405090304" charset="0"/>
                        </a:rPr>
                        <a:t>flag = True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Times New Roman Regular" panose="02020503050405090304" charset="0"/>
                        <a:ea typeface="Helvetica Neue" panose="02000503000000020004"/>
                        <a:cs typeface="Times New Roman Regular" panose="02020503050405090304" charset="0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Times New Roman Regular" panose="02020503050405090304" charset="0"/>
                          <a:ea typeface="Helvetica Neue" panose="02000503000000020004"/>
                          <a:cs typeface="Times New Roman Regular" panose="02020503050405090304" charset="0"/>
                        </a:rPr>
                        <a:t>False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Times New Roman Regular" panose="02020503050405090304" charset="0"/>
                        <a:ea typeface="Helvetica Neue" panose="02000503000000020004"/>
                        <a:cs typeface="Times New Roman Regular" panose="02020503050405090304" charset="0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Times New Roman Regular" panose="02020503050405090304" charset="0"/>
                          <a:ea typeface="Helvetica Neue" panose="02000503000000020004"/>
                        </a:rPr>
                        <a:t>Boolean false value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Times New Roman Regular" panose="02020503050405090304" charset="0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Times New Roman Regular" panose="02020503050405090304" charset="0"/>
                          <a:ea typeface="Helvetica Neue" panose="02000503000000020004"/>
                          <a:cs typeface="Times New Roman Regular" panose="02020503050405090304" charset="0"/>
                        </a:rPr>
                        <a:t>flag = False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Times New Roman Regular" panose="02020503050405090304" charset="0"/>
                        <a:ea typeface="Helvetica Neue" panose="02000503000000020004"/>
                        <a:cs typeface="Times New Roman Regular" panose="02020503050405090304" charset="0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Times New Roman Regular" panose="02020503050405090304" charset="0"/>
                          <a:ea typeface="Helvetica Neue" panose="02000503000000020004"/>
                          <a:cs typeface="Times New Roman Regular" panose="02020503050405090304" charset="0"/>
                        </a:rPr>
                        <a:t>None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Times New Roman Regular" panose="02020503050405090304" charset="0"/>
                        <a:ea typeface="Helvetica Neue" panose="02000503000000020004"/>
                        <a:cs typeface="Times New Roman Regular" panose="02020503050405090304" charset="0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Times New Roman Regular" panose="02020503050405090304" charset="0"/>
                          <a:ea typeface="Helvetica Neue" panose="02000503000000020004"/>
                        </a:rPr>
                        <a:t>Represents null or no value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Times New Roman Regular" panose="02020503050405090304" charset="0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Times New Roman Regular" panose="02020503050405090304" charset="0"/>
                          <a:ea typeface="Helvetica Neue" panose="02000503000000020004"/>
                          <a:cs typeface="Times New Roman Regular" panose="02020503050405090304" charset="0"/>
                        </a:rPr>
                        <a:t>result = None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Times New Roman Regular" panose="02020503050405090304" charset="0"/>
                        <a:ea typeface="Helvetica Neue" panose="02000503000000020004"/>
                        <a:cs typeface="Times New Roman Regular" panose="02020503050405090304" charset="0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/>
        </p:nvGraphicFramePr>
        <p:xfrm>
          <a:off x="853440" y="4264660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Keyword</a:t>
                      </a:r>
                      <a:endParaRPr lang="zh-CN" altLang="en-US" sz="11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Description</a:t>
                      </a:r>
                      <a:endParaRPr lang="zh-CN" altLang="en-US" sz="11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Example</a:t>
                      </a:r>
                      <a:endParaRPr lang="zh-CN" altLang="en-US" sz="11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and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Logical AND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if x &gt; 0 and x &lt; 10: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or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Logical OR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if x &lt; 0 or x &gt; 100: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not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Logical NOT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if not is_valid: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is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Object identity comparison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if x is None: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in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Membership test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if 'a' in 'apple':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Naming and Reserved Words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zh-CN" altLang="en-US" sz="2400"/>
              <a:t>Control Flow Keywords</a:t>
            </a: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/>
              <a:t>Control the program execution flow:</a:t>
            </a: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853440" y="2205355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Keyword</a:t>
                      </a:r>
                      <a:endParaRPr lang="zh-CN" altLang="en-US" sz="11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Description</a:t>
                      </a:r>
                      <a:endParaRPr lang="zh-CN" altLang="en-US" sz="11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Example</a:t>
                      </a:r>
                      <a:endParaRPr lang="zh-CN" altLang="en-US" sz="11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if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Conditional statement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if x &gt; 0: print("Positive")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elif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Else if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elif x == 0: print("Zero")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else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Else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else: print("Negative")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for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Loop statement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for i in range(5):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while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Loop statement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while x &gt; 0: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break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Break out of a loop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break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continue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Continue to the next iteration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continue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Naming and Reserved Words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zh-CN" altLang="en-US" sz="2400"/>
              <a:t>Function- and Class-Related Keywords</a:t>
            </a: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/>
              <a:t>Used to define and operate on functions and classes:</a:t>
            </a: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853440" y="2132330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Keyword</a:t>
                      </a:r>
                      <a:endParaRPr lang="zh-CN" altLang="en-US" sz="11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Description</a:t>
                      </a:r>
                      <a:endParaRPr lang="zh-CN" altLang="en-US" sz="11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Example</a:t>
                      </a:r>
                      <a:endParaRPr lang="zh-CN" altLang="en-US" sz="11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def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Define a function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def my_func():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return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Function return value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return x + y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lambda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Anonymous function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f = lambda x: x**2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class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Define a class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class MyClass: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pass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Empty statement placeholder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pass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Naming and Reserved Words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zh-CN" altLang="en-US" sz="2400"/>
              <a:t>Exception Handling Keywords</a:t>
            </a: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/>
              <a:t>Handle exceptions in a program:</a:t>
            </a: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853440" y="2354580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Keyword</a:t>
                      </a:r>
                      <a:endParaRPr lang="zh-CN" altLang="en-US" sz="11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Description</a:t>
                      </a:r>
                      <a:endParaRPr lang="zh-CN" altLang="en-US" sz="11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Example</a:t>
                      </a:r>
                      <a:endParaRPr lang="zh-CN" altLang="en-US" sz="11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try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Try to execute a code block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try: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except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Catch an exception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except ValueError: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finally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Execute whether or not an exception occurs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finally: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raise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Raise an exception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raise ValueError("Invalid")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Naming and Reserved Words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zh-CN" altLang="en-US" sz="2400"/>
              <a:t>Import and Module Keywords</a:t>
            </a: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/>
              <a:t>Manage modules and imports:</a:t>
            </a: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853440" y="2526665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Keyword</a:t>
                      </a:r>
                      <a:endParaRPr lang="zh-CN" altLang="en-US" sz="11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Description</a:t>
                      </a:r>
                      <a:endParaRPr lang="zh-CN" altLang="en-US" sz="11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Example</a:t>
                      </a:r>
                      <a:endParaRPr lang="zh-CN" altLang="en-US" sz="11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import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Import a module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import math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from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Import specific content from a module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from math import sqrt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as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Alias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import numpy as np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Naming and Reserved Words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zh-CN" altLang="en-US" sz="2400"/>
              <a:t>Variable Scope Keywords</a:t>
            </a: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/>
              <a:t>Control variable scope:</a:t>
            </a: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853440" y="2258060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Keyword</a:t>
                      </a:r>
                      <a:endParaRPr lang="zh-CN" altLang="en-US" sz="11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Description</a:t>
                      </a:r>
                      <a:endParaRPr lang="zh-CN" altLang="en-US" sz="11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Example</a:t>
                      </a:r>
                      <a:endParaRPr lang="zh-CN" altLang="en-US" sz="11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global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Declare a global variable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global count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nonlocal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Declare a nonlocal variable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nonlocal x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Naming and Reserved Words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zh-CN" altLang="en-US" sz="2400"/>
              <a:t>Other</a:t>
            </a: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853440" y="3870960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Keyword</a:t>
                      </a:r>
                      <a:endParaRPr lang="zh-CN" altLang="en-US" sz="11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Description</a:t>
                      </a:r>
                      <a:endParaRPr lang="zh-CN" altLang="en-US" sz="11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Example</a:t>
                      </a:r>
                      <a:endParaRPr lang="zh-CN" altLang="en-US" sz="11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del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Delete a reference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del my_list[0]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with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Context management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with open('file') as f: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yield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Generator return value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yield x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assert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Assert that a condition is true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assert x &gt; 0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822325" y="2317115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Keyword</a:t>
                      </a:r>
                      <a:endParaRPr lang="zh-CN" altLang="en-US" sz="11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Description</a:t>
                      </a:r>
                      <a:endParaRPr lang="zh-CN" altLang="en-US" sz="11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Example</a:t>
                      </a:r>
                      <a:endParaRPr lang="zh-CN" altLang="en-US" sz="11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async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Define an async function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async def fetch():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await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Wait for an async operation to complete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await response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Recommended Naming Rules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2400"/>
              <a:t>Variable names should be clear and meaningful.</a:t>
            </a:r>
            <a:r>
              <a:rPr lang="en-US" altLang="zh-CN" sz="2400">
                <a:sym typeface="+mn-ea"/>
              </a:rPr>
              <a:t> </a:t>
            </a:r>
            <a:r>
              <a:rPr lang="en-US" altLang="zh-CN" sz="2400">
                <a:sym typeface="+mn-ea"/>
              </a:rPr>
              <a:t>Use underscores</a:t>
            </a:r>
            <a:endParaRPr lang="en-US" altLang="zh-CN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/>
              <a:t>Make variable names meaningful whenever possible</a:t>
            </a: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/>
              <a:t>Lowercase -- variable</a:t>
            </a:r>
            <a:endParaRPr lang="en-US" altLang="zh-CN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/>
              <a:t>Uppercase -- constant</a:t>
            </a:r>
            <a:endParaRPr lang="en-US" altLang="zh-CN" sz="240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2400"/>
              <a:t>Avoid unclear names when possible.</a:t>
            </a:r>
            <a:endParaRPr lang="en-US" altLang="zh-CN" sz="2400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 sz="2400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101215"/>
            <a:ext cx="11849100" cy="10477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70" y="4258945"/>
            <a:ext cx="11582400" cy="1962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Naming and Reserved Words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zh-CN" altLang="en-US" sz="2400"/>
              <a:t>Some naming rules</a:t>
            </a: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/>
              <a:t>Make it as easy as possible for readers to understand the meaning of functions, classes, and variables</a:t>
            </a: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47345" y="2094230"/>
          <a:ext cx="11123295" cy="427228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562735"/>
                <a:gridCol w="6813550"/>
                <a:gridCol w="2747010"/>
              </a:tblGrid>
              <a:tr h="329565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Type</a:t>
                      </a:r>
                      <a:endParaRPr lang="zh-CN" sz="2000" b="1" kern="100" dirty="0">
                        <a:effectLst/>
                        <a:latin typeface="Times New Roman" panose="02020503050405090304" charset="0"/>
                        <a:ea typeface="宋体" pitchFamily="2" charset="-122"/>
                      </a:endParaRPr>
                    </a:p>
                  </a:txBody>
                  <a:tcPr marL="68581" marR="68581" marT="0" marB="0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Naming Rule</a:t>
                      </a:r>
                      <a:endParaRPr lang="zh-CN" sz="2000" b="1" kern="100">
                        <a:effectLst/>
                        <a:latin typeface="Times New Roman" panose="02020503050405090304" charset="0"/>
                        <a:ea typeface="宋体" pitchFamily="2" charset="-122"/>
                      </a:endParaRPr>
                    </a:p>
                  </a:txBody>
                  <a:tcPr marL="68581" marR="68581" marT="0" marB="0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Example</a:t>
                      </a:r>
                      <a:endParaRPr lang="zh-CN" sz="2000" b="1" kern="100">
                        <a:effectLst/>
                        <a:latin typeface="Times New Roman" panose="02020503050405090304" charset="0"/>
                        <a:ea typeface="宋体" pitchFamily="2" charset="-122"/>
                      </a:endParaRPr>
                    </a:p>
                  </a:txBody>
                  <a:tcPr marL="68581" marR="68581" marT="0" marB="0" anchor="ctr"/>
                </a:tc>
              </a:tr>
              <a:tr h="98552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Module/package names</a:t>
                      </a:r>
                      <a:endParaRPr lang="zh-CN" sz="2000" kern="100">
                        <a:effectLst/>
                        <a:latin typeface="Times New Roman" panose="02020503050405090304" charset="0"/>
                        <a:ea typeface="宋体" pitchFamily="2" charset="-122"/>
                      </a:endParaRPr>
                    </a:p>
                  </a:txBody>
                  <a:tcPr marL="68581" marR="68581" marT="0" marB="0" anchor="ctr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All lowercase, simple, and meaningful; use underscores if needed (we basically do not cover this)</a:t>
                      </a:r>
                      <a:endParaRPr lang="zh-CN" altLang="zh-CN" sz="2000" kern="100" dirty="0">
                        <a:effectLst/>
                      </a:endParaRPr>
                    </a:p>
                  </a:txBody>
                  <a:tcPr marL="68581" marR="68581" marT="0" marB="0" anchor="ctr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math</a:t>
                      </a:r>
                      <a:r>
                        <a:rPr lang="zh-CN" sz="2000" kern="100">
                          <a:effectLst/>
                        </a:rPr>
                        <a:t>、</a:t>
                      </a:r>
                      <a:r>
                        <a:rPr lang="en-US" sz="2000" kern="100">
                          <a:effectLst/>
                        </a:rPr>
                        <a:t>sys</a:t>
                      </a:r>
                      <a:endParaRPr lang="en-US" sz="2000" kern="100">
                        <a:effectLst/>
                        <a:latin typeface="Times New Roman" panose="02020503050405090304" charset="0"/>
                        <a:ea typeface="宋体" pitchFamily="2" charset="-122"/>
                      </a:endParaRPr>
                    </a:p>
                  </a:txBody>
                  <a:tcPr marL="68581" marR="68581" marT="0" marB="0" anchor="ctr"/>
                </a:tc>
              </a:tr>
              <a:tr h="657225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Function names</a:t>
                      </a:r>
                      <a:endParaRPr lang="zh-CN" sz="2000" kern="100">
                        <a:effectLst/>
                        <a:latin typeface="Times New Roman" panose="02020503050405090304" charset="0"/>
                        <a:ea typeface="宋体" pitchFamily="2" charset="-122"/>
                      </a:endParaRPr>
                    </a:p>
                  </a:txBody>
                  <a:tcPr marL="68581" marR="68581" marT="0" marB="0" anchor="ctr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All lowercase; use underscores to improve readability</a:t>
                      </a:r>
                      <a:endParaRPr lang="zh-CN" sz="2000" kern="100">
                        <a:effectLst/>
                        <a:latin typeface="Times New Roman" panose="02020503050405090304" charset="0"/>
                        <a:ea typeface="宋体" pitchFamily="2" charset="-122"/>
                      </a:endParaRPr>
                    </a:p>
                  </a:txBody>
                  <a:tcPr marL="68581" marR="68581" marT="0" marB="0" anchor="ctr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my_func()</a:t>
                      </a:r>
                      <a:endParaRPr lang="en-US" sz="2000" kern="100">
                        <a:effectLst/>
                        <a:latin typeface="Times New Roman" panose="02020503050405090304" charset="0"/>
                        <a:ea typeface="宋体" pitchFamily="2" charset="-122"/>
                      </a:endParaRPr>
                    </a:p>
                  </a:txBody>
                  <a:tcPr marL="68581" marR="68581" marT="0" marB="0" anchor="ctr"/>
                </a:tc>
              </a:tr>
              <a:tr h="657225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Variable names</a:t>
                      </a:r>
                      <a:endParaRPr lang="zh-CN" sz="2000" kern="100">
                        <a:effectLst/>
                        <a:latin typeface="Times New Roman" panose="02020503050405090304" charset="0"/>
                        <a:ea typeface="宋体" pitchFamily="2" charset="-122"/>
                      </a:endParaRPr>
                    </a:p>
                  </a:txBody>
                  <a:tcPr marL="68581" marR="68581" marT="0" marB="0" anchor="ctr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All lowercase; use underscores to improve readability</a:t>
                      </a:r>
                      <a:endParaRPr lang="zh-CN" sz="2000" kern="100">
                        <a:effectLst/>
                        <a:latin typeface="Times New Roman" panose="02020503050405090304" charset="0"/>
                        <a:ea typeface="宋体" pitchFamily="2" charset="-122"/>
                      </a:endParaRPr>
                    </a:p>
                  </a:txBody>
                  <a:tcPr marL="68581" marR="68581" marT="0" marB="0" anchor="ctr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age</a:t>
                      </a:r>
                      <a:r>
                        <a:rPr lang="zh-CN" sz="2000" kern="100">
                          <a:effectLst/>
                        </a:rPr>
                        <a:t>、</a:t>
                      </a:r>
                      <a:r>
                        <a:rPr lang="en-US" sz="2000" kern="100">
                          <a:effectLst/>
                        </a:rPr>
                        <a:t>my_var</a:t>
                      </a:r>
                      <a:endParaRPr lang="en-US" sz="2000" kern="100">
                        <a:effectLst/>
                        <a:latin typeface="Times New Roman" panose="02020503050405090304" charset="0"/>
                        <a:ea typeface="宋体" pitchFamily="2" charset="-122"/>
                      </a:endParaRPr>
                    </a:p>
                  </a:txBody>
                  <a:tcPr marL="68581" marR="68581" marT="0" marB="0" anchor="ctr"/>
                </a:tc>
              </a:tr>
              <a:tr h="98552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Class names</a:t>
                      </a:r>
                      <a:endParaRPr lang="zh-CN" sz="2000" kern="100">
                        <a:effectLst/>
                        <a:latin typeface="Times New Roman" panose="02020503050405090304" charset="0"/>
                        <a:ea typeface="宋体" pitchFamily="2" charset="-122"/>
                      </a:endParaRPr>
                    </a:p>
                  </a:txBody>
                  <a:tcPr marL="68581" marR="68581" marT="0" marB="0" anchor="ctr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Use PascalCase: for names made of multiple words, capitalize the first letter of each word and keep the rest lowercase</a:t>
                      </a:r>
                      <a:endParaRPr lang="zh-CN" sz="2000" kern="100">
                        <a:effectLst/>
                        <a:latin typeface="Times New Roman" panose="02020503050405090304" charset="0"/>
                        <a:ea typeface="宋体" pitchFamily="2" charset="-122"/>
                      </a:endParaRPr>
                    </a:p>
                  </a:txBody>
                  <a:tcPr marL="68581" marR="68581" marT="0" marB="0" anchor="ctr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MyClass</a:t>
                      </a:r>
                      <a:endParaRPr lang="en-US" sz="2000" kern="100">
                        <a:effectLst/>
                        <a:latin typeface="Times New Roman" panose="02020503050405090304" charset="0"/>
                        <a:ea typeface="宋体" pitchFamily="2" charset="-122"/>
                      </a:endParaRPr>
                    </a:p>
                  </a:txBody>
                  <a:tcPr marL="68581" marR="68581" marT="0" marB="0" anchor="ctr"/>
                </a:tc>
              </a:tr>
              <a:tr h="657225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Constant names</a:t>
                      </a:r>
                      <a:endParaRPr lang="zh-CN" sz="2000" kern="100">
                        <a:effectLst/>
                        <a:latin typeface="Times New Roman" panose="02020503050405090304" charset="0"/>
                        <a:ea typeface="宋体" pitchFamily="2" charset="-122"/>
                      </a:endParaRPr>
                    </a:p>
                  </a:txBody>
                  <a:tcPr marL="68581" marR="68581" marT="0" marB="0" anchor="ctr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All uppercase; use underscores to improve readability</a:t>
                      </a:r>
                      <a:endParaRPr lang="zh-CN" sz="2000" kern="100">
                        <a:effectLst/>
                        <a:latin typeface="Times New Roman" panose="02020503050405090304" charset="0"/>
                        <a:ea typeface="宋体" pitchFamily="2" charset="-122"/>
                      </a:endParaRPr>
                    </a:p>
                  </a:txBody>
                  <a:tcPr marL="68581" marR="68581" marT="0" marB="0" anchor="ctr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TAX_RATE</a:t>
                      </a:r>
                      <a:endParaRPr lang="en-US" sz="2000" kern="100" dirty="0">
                        <a:effectLst/>
                        <a:latin typeface="Times New Roman" panose="02020503050405090304" charset="0"/>
                        <a:ea typeface="宋体" pitchFamily="2" charset="-122"/>
                      </a:endParaRPr>
                    </a:p>
                  </a:txBody>
                  <a:tcPr marL="68581" marR="68581" marT="0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Naming and Reserved Words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Are the following correct?</a:t>
            </a: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2nd_place = "silver"    </a:t>
            </a: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user-name = "Bob"      </a:t>
            </a: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class = "Math"          </a:t>
            </a: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$price = 9.99          </a:t>
            </a: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for = "loop"           </a:t>
            </a:r>
            <a:endParaRPr lang="en-US" altLang="zh-CN" sz="240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90204" pitchFamily="34" charset="0"/>
              <a:buChar char="•"/>
            </a:pPr>
            <a:endParaRPr lang="zh-CN" alt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1117155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Data Types -- A data type describes the kind of value stored in a variable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47675" y="1584325"/>
            <a:ext cx="5149215" cy="5026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</a:rPr>
              <a:t>In Python, a variable itself has no type. The "type" refers to the type of the object in memory that the variable points to.</a:t>
            </a:r>
            <a:endParaRPr lang="zh-CN" altLang="en-US" sz="2000">
              <a:solidFill>
                <a:schemeClr val="tx1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2000">
                <a:solidFill>
                  <a:schemeClr val="tx1"/>
                </a:solidFill>
              </a:rPr>
              <a:t>Common data types in Python 3 include:</a:t>
            </a:r>
            <a:endParaRPr lang="en-US" altLang="zh-CN" sz="20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 sz="2000">
                <a:solidFill>
                  <a:schemeClr val="tx1"/>
                </a:solidFill>
              </a:rPr>
              <a:t>Number</a:t>
            </a:r>
            <a:endParaRPr lang="zh-CN" altLang="en-US" sz="20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 sz="2000">
                <a:solidFill>
                  <a:schemeClr val="tx1"/>
                </a:solidFill>
              </a:rPr>
              <a:t>String</a:t>
            </a:r>
            <a:endParaRPr lang="zh-CN" altLang="en-US" sz="20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 sz="2000">
                <a:solidFill>
                  <a:schemeClr val="tx1"/>
                </a:solidFill>
              </a:rPr>
              <a:t>bool</a:t>
            </a:r>
            <a:endParaRPr lang="zh-CN" altLang="en-US" sz="20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 sz="2000">
                <a:solidFill>
                  <a:schemeClr val="tx1"/>
                </a:solidFill>
              </a:rPr>
              <a:t>List</a:t>
            </a:r>
            <a:endParaRPr lang="zh-CN" altLang="en-US" sz="20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 sz="2000">
                <a:solidFill>
                  <a:schemeClr val="tx1"/>
                </a:solidFill>
              </a:rPr>
              <a:t>Tuple</a:t>
            </a:r>
            <a:endParaRPr lang="zh-CN" altLang="en-US" sz="20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 sz="2000">
                <a:solidFill>
                  <a:schemeClr val="tx1"/>
                </a:solidFill>
              </a:rPr>
              <a:t>Set</a:t>
            </a:r>
            <a:endParaRPr lang="zh-CN" altLang="en-US" sz="20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 sz="2000">
                <a:solidFill>
                  <a:schemeClr val="tx1"/>
                </a:solidFill>
              </a:rPr>
              <a:t>Dictionary</a:t>
            </a:r>
            <a:endParaRPr lang="zh-CN" altLang="en-US" sz="200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</a:rPr>
              <a:t>The built-in type() function can be used to query the type of the object a variable points to.</a:t>
            </a:r>
            <a:endParaRPr lang="zh-CN" altLang="en-US" sz="2000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7970" y="1404620"/>
            <a:ext cx="6710045" cy="16465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890" y="1511935"/>
            <a:ext cx="6197600" cy="4241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34315" y="631190"/>
            <a:ext cx="118351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Data Types -- Why Are They Important?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5930" y="1273810"/>
            <a:ext cx="11215370" cy="5584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Without data types, how should 10,011,101 be interpreted?</a:t>
            </a: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A number?</a:t>
            </a:r>
            <a:endParaRPr lang="en-US" altLang="zh-CN" sz="2400">
              <a:solidFill>
                <a:schemeClr val="tx1"/>
              </a:solidFill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Binary: 157</a:t>
            </a:r>
            <a:endParaRPr lang="en-US" altLang="zh-CN" sz="2400">
              <a:solidFill>
                <a:schemeClr val="tx1"/>
              </a:solidFill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Decimal: 10,011,101</a:t>
            </a:r>
            <a:endParaRPr lang="en-US" altLang="zh-CN" sz="2400">
              <a:sym typeface="+mn-ea"/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Text?</a:t>
            </a:r>
            <a:endParaRPr lang="en-US" altLang="zh-CN" sz="2400">
              <a:solidFill>
                <a:schemeClr val="tx1"/>
              </a:solidFill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It is a string, and each character is a digit</a:t>
            </a:r>
            <a:endParaRPr lang="zh-CN" altLang="en-US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Three comma-separated numbers?</a:t>
            </a: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Data type determines which operations make sense~</a:t>
            </a: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Example:</a:t>
            </a:r>
            <a:endParaRPr lang="en-US" altLang="zh-CN" sz="2400">
              <a:solidFill>
                <a:schemeClr val="tx1"/>
              </a:solidFill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Integer type: directly enter 10011101</a:t>
            </a:r>
            <a:endParaRPr lang="en-US" altLang="zh-CN" sz="2400">
              <a:solidFill>
                <a:schemeClr val="tx1"/>
              </a:solidFill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String type: '10,011,101'</a:t>
            </a:r>
            <a:endParaRPr lang="en-US" altLang="zh-CN" sz="2400">
              <a:solidFill>
                <a:schemeClr val="tx1"/>
              </a:solidFill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List type: [10, 011, 101]</a:t>
            </a:r>
            <a:endParaRPr lang="en-US" altLang="zh-CN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Data Types - Number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7690" y="1273175"/>
            <a:ext cx="11073765" cy="5584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Python 3 supports int, float, bool, and complex</a:t>
            </a:r>
            <a:endParaRPr lang="zh-CN" altLang="en-US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There is only one integer type, int, represented as a long integer;</a:t>
            </a:r>
            <a:endParaRPr lang="en-US" altLang="zh-CN" sz="2400">
              <a:solidFill>
                <a:schemeClr val="tx1"/>
              </a:solidFill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Example:</a:t>
            </a:r>
            <a:endParaRPr lang="en-US" altLang="zh-CN" sz="2400">
              <a:solidFill>
                <a:schemeClr val="tx1"/>
              </a:solidFill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Direct calculations:</a:t>
            </a:r>
            <a:endParaRPr lang="en-US" altLang="zh-CN" sz="2400">
              <a:solidFill>
                <a:schemeClr val="tx1"/>
              </a:solidFill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00" y="2387600"/>
            <a:ext cx="6756400" cy="1041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065" y="3429000"/>
            <a:ext cx="4140200" cy="3429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1120775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Data Types - String: A string is a sequence of characters used to represent text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08000" y="1584325"/>
            <a:ext cx="11073765" cy="5584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Strings in Python are enclosed in single quotes ' or double quotes ", and backslashes \ are used to escape special characters</a:t>
            </a:r>
            <a:endParaRPr lang="zh-CN" altLang="en-US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Because String is a sequence, each character has a position -- index;</a:t>
            </a: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String indexing!</a:t>
            </a:r>
            <a:endParaRPr lang="en-US" altLang="zh-CN" sz="2400">
              <a:solidFill>
                <a:schemeClr val="tx1"/>
              </a:solidFill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variable[start_index:end_index]</a:t>
            </a:r>
            <a:endParaRPr lang="en-US" altLang="zh-CN" sz="2400">
              <a:solidFill>
                <a:schemeClr val="tx1"/>
              </a:solidFill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Indexing starts at 0; -1 refers to the last position</a:t>
            </a:r>
            <a:br>
              <a:rPr lang="zh-CN" altLang="en-US" sz="2400">
                <a:solidFill>
                  <a:schemeClr val="tx1"/>
                </a:solidFill>
              </a:rPr>
            </a:br>
            <a:endParaRPr lang="zh-CN" altLang="en-US" sz="2400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4165" y="2616200"/>
            <a:ext cx="6197600" cy="4241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Data Types - String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7690" y="1273175"/>
            <a:ext cx="4337050" cy="5584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Example: str = "runoob" or 'runoob'</a:t>
            </a:r>
            <a:endParaRPr lang="en-US" altLang="zh-CN" sz="2400">
              <a:sym typeface="+mn-ea"/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+: string concatenation operator</a:t>
            </a:r>
            <a:endParaRPr lang="en-US" altLang="zh-CN" sz="2400">
              <a:solidFill>
                <a:schemeClr val="tx1"/>
              </a:solidFill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*: repeats the string.</a:t>
            </a:r>
            <a:br>
              <a:rPr lang="zh-CN" altLang="en-US" sz="2400">
                <a:solidFill>
                  <a:schemeClr val="tx1"/>
                </a:solidFill>
              </a:rPr>
            </a:br>
            <a:endParaRPr lang="zh-CN" altLang="en-US" sz="2400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9700" y="1063625"/>
            <a:ext cx="6477000" cy="2565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55" y="3878580"/>
            <a:ext cx="7010400" cy="2159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b="79750"/>
          <a:stretch>
            <a:fillRect/>
          </a:stretch>
        </p:blipFill>
        <p:spPr>
          <a:xfrm>
            <a:off x="3619500" y="4243705"/>
            <a:ext cx="1752600" cy="4114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rcRect t="20688" b="70906"/>
          <a:stretch>
            <a:fillRect/>
          </a:stretch>
        </p:blipFill>
        <p:spPr>
          <a:xfrm>
            <a:off x="7120255" y="4583430"/>
            <a:ext cx="1752600" cy="17081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t="31813" r="69710" b="59781"/>
          <a:stretch>
            <a:fillRect/>
          </a:stretch>
        </p:blipFill>
        <p:spPr>
          <a:xfrm>
            <a:off x="4373880" y="4872990"/>
            <a:ext cx="530860" cy="17081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t="45875" b="43000"/>
          <a:stretch>
            <a:fillRect/>
          </a:stretch>
        </p:blipFill>
        <p:spPr>
          <a:xfrm>
            <a:off x="4241800" y="5279390"/>
            <a:ext cx="1752600" cy="22606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rcRect t="56969" b="31906"/>
          <a:stretch>
            <a:fillRect/>
          </a:stretch>
        </p:blipFill>
        <p:spPr>
          <a:xfrm>
            <a:off x="4910455" y="5554980"/>
            <a:ext cx="1752600" cy="22606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rcRect t="70344" b="20469"/>
          <a:stretch>
            <a:fillRect/>
          </a:stretch>
        </p:blipFill>
        <p:spPr>
          <a:xfrm>
            <a:off x="3881755" y="5830570"/>
            <a:ext cx="1752600" cy="1866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Data Types - String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7690" y="1273175"/>
            <a:ext cx="11073765" cy="5584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Example: str = "runoob" or 'runoob'</a:t>
            </a:r>
            <a:endParaRPr lang="en-US" altLang="zh-CN" sz="2400">
              <a:sym typeface="+mn-ea"/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Backslash \ escapes special characters: \n is a newline, e.g., print('Ru\noob')</a:t>
            </a:r>
            <a:endParaRPr lang="zh-CN" altLang="en-US" sz="2400">
              <a:solidFill>
                <a:schemeClr val="tx1"/>
              </a:solidFill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endParaRPr lang="zh-CN" altLang="en-US" sz="2400">
              <a:solidFill>
                <a:schemeClr val="tx1"/>
              </a:solidFill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endParaRPr lang="zh-CN" altLang="en-US" sz="2400">
              <a:solidFill>
                <a:schemeClr val="tx1"/>
              </a:solidFill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endParaRPr lang="zh-CN" altLang="en-US" sz="2400">
              <a:solidFill>
                <a:schemeClr val="tx1"/>
              </a:solidFill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If you do not want backslashes to escape characters, add r before the string to create a raw string, e.g., print(r'Ru\noob')</a:t>
            </a:r>
            <a:endParaRPr lang="zh-CN" altLang="en-US" sz="2400">
              <a:solidFill>
                <a:schemeClr val="tx1"/>
              </a:solidFill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endParaRPr lang="zh-CN" altLang="en-US" sz="2400">
              <a:solidFill>
                <a:schemeClr val="tx1"/>
              </a:solidFill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endParaRPr lang="zh-CN" altLang="en-US" sz="2400">
              <a:solidFill>
                <a:schemeClr val="tx1"/>
              </a:solidFill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Strings are immutable</a:t>
            </a:r>
            <a:endParaRPr lang="zh-CN" altLang="en-US" sz="2400">
              <a:solidFill>
                <a:schemeClr val="tx1"/>
              </a:solidFill>
            </a:endParaRPr>
          </a:p>
          <a:p>
            <a:pPr lvl="3" indent="-285750">
              <a:buFont typeface="Arial" panose="020B060402020209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str[0] = 'm'  --&gt; </a:t>
            </a:r>
            <a:r>
              <a:rPr lang="en-US" altLang="zh-CN" sz="2400">
                <a:solidFill>
                  <a:schemeClr val="tx1"/>
                </a:solidFill>
              </a:rPr>
              <a:t>Error</a:t>
            </a:r>
            <a:endParaRPr lang="en-US" altLang="zh-CN" sz="2400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0865" y="2705100"/>
            <a:ext cx="2514600" cy="7239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865" y="4373245"/>
            <a:ext cx="2616200" cy="546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Data Types - Bool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7690" y="1273175"/>
            <a:ext cx="11073765" cy="5584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The Boolean type is True or False</a:t>
            </a:r>
            <a:endParaRPr lang="en-US" altLang="zh-CN" sz="2400">
              <a:solidFill>
                <a:schemeClr val="tx1"/>
              </a:solidFill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Recall: True and False are both keywords</a:t>
            </a:r>
            <a:endParaRPr lang="zh-CN" altLang="en-US" sz="2400">
              <a:solidFill>
                <a:schemeClr val="tx1"/>
              </a:solidFill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Booleans can control program flow, such as checking whether a condition is true or running a block of code when a condition is met</a:t>
            </a:r>
            <a:endParaRPr lang="zh-CN" altLang="en-US" sz="2400">
              <a:solidFill>
                <a:schemeClr val="tx1"/>
              </a:solidFill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  <a:highlight>
                  <a:srgbClr val="FFFF00"/>
                </a:highlight>
              </a:rPr>
              <a:t>bool is a subclass of int. Boolean values can be treated as integers: True is equivalent to 1, so it can be compared with other data types</a:t>
            </a:r>
            <a:endParaRPr lang="zh-CN" altLang="en-US" sz="2400">
              <a:solidFill>
                <a:schemeClr val="tx1"/>
              </a:solidFill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Booleans can be used with logical operators, including and, or, and not. These operators combine Boolean expressions to produce a new Boolean value.</a:t>
            </a:r>
            <a:endParaRPr lang="zh-CN" altLang="en-US" sz="2400">
              <a:solidFill>
                <a:schemeClr val="tx1"/>
              </a:solidFill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In Python, all nonzero numbers and nonempty strings, lists, tuples, and similar data types are treated as True; only 0, empty strings, empty lists, empty tuples, and similar values are treated as False.</a:t>
            </a:r>
            <a:endParaRPr lang="zh-CN" alt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Data Types - Bool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7690" y="1273175"/>
            <a:ext cx="11073765" cy="5584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Example:</a:t>
            </a:r>
            <a:endParaRPr lang="en-US" altLang="zh-CN" sz="2400">
              <a:solidFill>
                <a:schemeClr val="tx1"/>
              </a:solidFill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Integer representation of Booleans:</a:t>
            </a:r>
            <a:endParaRPr lang="en-US" altLang="zh-CN" sz="2400">
              <a:solidFill>
                <a:schemeClr val="tx1"/>
              </a:solidFill>
            </a:endParaRPr>
          </a:p>
          <a:p>
            <a:pPr lvl="3" indent="-285750">
              <a:buFont typeface="Arial" panose="020B060402020209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print(int(True))   </a:t>
            </a:r>
            <a:endParaRPr lang="en-US" altLang="zh-CN" sz="2400">
              <a:solidFill>
                <a:schemeClr val="tx1"/>
              </a:solidFill>
            </a:endParaRPr>
          </a:p>
          <a:p>
            <a:pPr lvl="4" indent="-285750">
              <a:buFont typeface="Arial" panose="020B060402020209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# 1</a:t>
            </a:r>
            <a:endParaRPr lang="en-US" altLang="zh-CN" sz="2400">
              <a:solidFill>
                <a:schemeClr val="tx1"/>
              </a:solidFill>
            </a:endParaRPr>
          </a:p>
          <a:p>
            <a:pPr lvl="3" indent="-285750">
              <a:buFont typeface="Arial" panose="020B060402020209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print(int(False)) </a:t>
            </a:r>
            <a:endParaRPr lang="en-US" altLang="zh-CN" sz="2400">
              <a:solidFill>
                <a:schemeClr val="tx1"/>
              </a:solidFill>
            </a:endParaRPr>
          </a:p>
          <a:p>
            <a:pPr lvl="4" indent="-285750">
              <a:buFont typeface="Arial" panose="020B060402020209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 # 0</a:t>
            </a:r>
            <a:endParaRPr lang="en-US" altLang="zh-CN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Data Types - Bool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7690" y="1273175"/>
            <a:ext cx="11073765" cy="5584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Example:</a:t>
            </a:r>
            <a:endParaRPr lang="en-US" altLang="zh-CN" sz="2400">
              <a:solidFill>
                <a:schemeClr val="tx1"/>
              </a:solidFill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Use the bool() function for conversion</a:t>
            </a:r>
            <a:endParaRPr lang="zh-CN" altLang="en-US" sz="2400">
              <a:solidFill>
                <a:schemeClr val="tx1"/>
              </a:solidFill>
            </a:endParaRPr>
          </a:p>
          <a:p>
            <a:pPr lvl="3" indent="-285750">
              <a:buFont typeface="Arial" panose="020B0604020202090204" pitchFamily="34" charset="0"/>
              <a:buChar char="•"/>
            </a:pPr>
            <a:r>
              <a:rPr lang="en-US" altLang="zh-CN" sz="2400">
                <a:sym typeface="+mn-ea"/>
              </a:rPr>
              <a:t>print(bool(0))         </a:t>
            </a:r>
            <a:endParaRPr lang="en-US" altLang="zh-CN" sz="2400">
              <a:solidFill>
                <a:schemeClr val="tx1"/>
              </a:solidFill>
            </a:endParaRPr>
          </a:p>
          <a:p>
            <a:pPr lvl="4" indent="-285750">
              <a:buFont typeface="Arial" panose="020B0604020202090204" pitchFamily="34" charset="0"/>
              <a:buChar char="•"/>
            </a:pPr>
            <a:r>
              <a:rPr lang="en-US" altLang="zh-CN" sz="2400">
                <a:sym typeface="+mn-ea"/>
              </a:rPr>
              <a:t># False</a:t>
            </a:r>
            <a:endParaRPr lang="en-US" altLang="zh-CN" sz="2400">
              <a:solidFill>
                <a:schemeClr val="tx1"/>
              </a:solidFill>
            </a:endParaRPr>
          </a:p>
          <a:p>
            <a:pPr lvl="3" indent="-285750">
              <a:buFont typeface="Arial" panose="020B0604020202090204" pitchFamily="34" charset="0"/>
              <a:buChar char="•"/>
            </a:pPr>
            <a:r>
              <a:rPr lang="en-US" altLang="zh-CN" sz="2400">
                <a:sym typeface="+mn-ea"/>
              </a:rPr>
              <a:t>print(bool(42))        </a:t>
            </a:r>
            <a:endParaRPr lang="en-US" altLang="zh-CN" sz="2400">
              <a:solidFill>
                <a:schemeClr val="tx1"/>
              </a:solidFill>
            </a:endParaRPr>
          </a:p>
          <a:p>
            <a:pPr lvl="4" indent="-285750">
              <a:buFont typeface="Arial" panose="020B0604020202090204" pitchFamily="34" charset="0"/>
              <a:buChar char="•"/>
            </a:pPr>
            <a:r>
              <a:rPr lang="en-US" altLang="zh-CN" sz="2400">
                <a:sym typeface="+mn-ea"/>
              </a:rPr>
              <a:t># True</a:t>
            </a:r>
            <a:endParaRPr lang="en-US" altLang="zh-CN" sz="2400">
              <a:solidFill>
                <a:schemeClr val="tx1"/>
              </a:solidFill>
            </a:endParaRPr>
          </a:p>
          <a:p>
            <a:pPr lvl="3" indent="-285750">
              <a:buFont typeface="Arial" panose="020B0604020202090204" pitchFamily="34" charset="0"/>
              <a:buChar char="•"/>
            </a:pPr>
            <a:r>
              <a:rPr lang="en-US" altLang="zh-CN" sz="2400">
                <a:sym typeface="+mn-ea"/>
              </a:rPr>
              <a:t>print(bool(''))       </a:t>
            </a:r>
            <a:endParaRPr lang="en-US" altLang="zh-CN" sz="2400">
              <a:solidFill>
                <a:schemeClr val="tx1"/>
              </a:solidFill>
            </a:endParaRPr>
          </a:p>
          <a:p>
            <a:pPr lvl="4" indent="-285750">
              <a:buFont typeface="Arial" panose="020B0604020202090204" pitchFamily="34" charset="0"/>
              <a:buChar char="•"/>
            </a:pPr>
            <a:r>
              <a:rPr lang="en-US" altLang="zh-CN" sz="2400">
                <a:sym typeface="+mn-ea"/>
              </a:rPr>
              <a:t> # False</a:t>
            </a:r>
            <a:endParaRPr lang="en-US" altLang="zh-CN" sz="2400">
              <a:solidFill>
                <a:schemeClr val="tx1"/>
              </a:solidFill>
            </a:endParaRPr>
          </a:p>
          <a:p>
            <a:pPr lvl="3" indent="-285750">
              <a:buFont typeface="Arial" panose="020B0604020202090204" pitchFamily="34" charset="0"/>
              <a:buChar char="•"/>
            </a:pPr>
            <a:r>
              <a:rPr lang="en-US" altLang="zh-CN" sz="2400">
                <a:sym typeface="+mn-ea"/>
              </a:rPr>
              <a:t>print(bool('Python'))  </a:t>
            </a:r>
            <a:endParaRPr lang="en-US" altLang="zh-CN" sz="2400">
              <a:solidFill>
                <a:schemeClr val="tx1"/>
              </a:solidFill>
            </a:endParaRPr>
          </a:p>
          <a:p>
            <a:pPr lvl="4" indent="-285750">
              <a:buFont typeface="Arial" panose="020B0604020202090204" pitchFamily="34" charset="0"/>
              <a:buChar char="•"/>
            </a:pPr>
            <a:r>
              <a:rPr lang="en-US" altLang="zh-CN" sz="2400">
                <a:sym typeface="+mn-ea"/>
              </a:rPr>
              <a:t># True</a:t>
            </a:r>
            <a:endParaRPr lang="en-US" altLang="zh-CN" sz="2400">
              <a:solidFill>
                <a:schemeClr val="tx1"/>
              </a:solidFill>
            </a:endParaRPr>
          </a:p>
          <a:p>
            <a:pPr lvl="3" indent="-285750">
              <a:buFont typeface="Arial" panose="020B0604020202090204" pitchFamily="34" charset="0"/>
              <a:buChar char="•"/>
            </a:pPr>
            <a:r>
              <a:rPr lang="en-US" altLang="zh-CN" sz="2400">
                <a:sym typeface="+mn-ea"/>
              </a:rPr>
              <a:t>print(bool([]))  </a:t>
            </a:r>
            <a:endParaRPr lang="en-US" altLang="zh-CN" sz="2400">
              <a:solidFill>
                <a:schemeClr val="tx1"/>
              </a:solidFill>
            </a:endParaRPr>
          </a:p>
          <a:p>
            <a:pPr lvl="4" indent="-285750">
              <a:buFont typeface="Arial" panose="020B0604020202090204" pitchFamily="34" charset="0"/>
              <a:buChar char="•"/>
            </a:pPr>
            <a:r>
              <a:rPr lang="en-US" altLang="zh-CN" sz="2400">
                <a:sym typeface="+mn-ea"/>
              </a:rPr>
              <a:t># False</a:t>
            </a:r>
            <a:endParaRPr lang="en-US" altLang="zh-CN" sz="2400">
              <a:solidFill>
                <a:schemeClr val="tx1"/>
              </a:solidFill>
            </a:endParaRPr>
          </a:p>
          <a:p>
            <a:pPr lvl="3" indent="-285750">
              <a:buFont typeface="Arial" panose="020B0604020202090204" pitchFamily="34" charset="0"/>
              <a:buChar char="•"/>
            </a:pPr>
            <a:r>
              <a:rPr lang="en-US" altLang="zh-CN" sz="2400">
                <a:sym typeface="+mn-ea"/>
              </a:rPr>
              <a:t>print(bool([1, 2, 3])) </a:t>
            </a:r>
            <a:endParaRPr lang="en-US" altLang="zh-CN" sz="2400">
              <a:solidFill>
                <a:schemeClr val="tx1"/>
              </a:solidFill>
            </a:endParaRPr>
          </a:p>
          <a:p>
            <a:pPr lvl="4" indent="-285750">
              <a:buFont typeface="Arial" panose="020B0604020202090204" pitchFamily="34" charset="0"/>
              <a:buChar char="•"/>
            </a:pPr>
            <a:r>
              <a:rPr lang="en-US" altLang="zh-CN" sz="2400">
                <a:sym typeface="+mn-ea"/>
              </a:rPr>
              <a:t># True</a:t>
            </a:r>
            <a:endParaRPr lang="en-US" altLang="zh-CN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Data Types - Bool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7690" y="1273175"/>
            <a:ext cx="11073765" cy="5584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Example:</a:t>
            </a:r>
            <a:endParaRPr lang="en-US" altLang="zh-CN" sz="2400">
              <a:solidFill>
                <a:schemeClr val="tx1"/>
              </a:solidFill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Boolean comparison operations</a:t>
            </a:r>
            <a:endParaRPr lang="zh-CN" altLang="en-US" sz="2400">
              <a:solidFill>
                <a:schemeClr val="tx1"/>
              </a:solidFill>
            </a:endParaRPr>
          </a:p>
          <a:p>
            <a:pPr lvl="3" indent="-285750">
              <a:buFont typeface="Arial" panose="020B060402020209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print(5 &gt; 3)  </a:t>
            </a:r>
            <a:endParaRPr lang="en-US" altLang="zh-CN" sz="2400">
              <a:solidFill>
                <a:schemeClr val="tx1"/>
              </a:solidFill>
            </a:endParaRPr>
          </a:p>
          <a:p>
            <a:pPr lvl="4" indent="-285750">
              <a:buFont typeface="Arial" panose="020B060402020209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# True</a:t>
            </a:r>
            <a:endParaRPr lang="en-US" altLang="zh-CN" sz="2400">
              <a:solidFill>
                <a:schemeClr val="tx1"/>
              </a:solidFill>
            </a:endParaRPr>
          </a:p>
          <a:p>
            <a:pPr lvl="3" indent="-285750">
              <a:buFont typeface="Arial" panose="020B060402020209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print(2 == 2) </a:t>
            </a:r>
            <a:endParaRPr lang="en-US" altLang="zh-CN" sz="2400">
              <a:solidFill>
                <a:schemeClr val="tx1"/>
              </a:solidFill>
            </a:endParaRPr>
          </a:p>
          <a:p>
            <a:pPr lvl="4" indent="-285750">
              <a:buFont typeface="Arial" panose="020B060402020209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# True</a:t>
            </a:r>
            <a:endParaRPr lang="en-US" altLang="zh-CN" sz="2400">
              <a:solidFill>
                <a:schemeClr val="tx1"/>
              </a:solidFill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Using Boolean values in control flow</a:t>
            </a:r>
            <a:endParaRPr lang="zh-CN" altLang="en-US" sz="2400">
              <a:solidFill>
                <a:schemeClr val="tx1"/>
              </a:solidFill>
            </a:endParaRPr>
          </a:p>
          <a:p>
            <a:pPr lvl="3" indent="-285750">
              <a:buFont typeface="Arial" panose="020B060402020209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if True:</a:t>
            </a:r>
            <a:br>
              <a:rPr lang="en-US" altLang="zh-CN" sz="2400">
                <a:solidFill>
                  <a:schemeClr val="tx1"/>
                </a:solidFill>
              </a:rPr>
            </a:br>
            <a:r>
              <a:rPr lang="en-US" altLang="zh-CN" sz="2400">
                <a:solidFill>
                  <a:schemeClr val="tx1"/>
                </a:solidFill>
              </a:rPr>
              <a:t>	print("This will always print")  </a:t>
            </a:r>
            <a:endParaRPr lang="en-US" altLang="zh-CN" sz="2400">
              <a:solidFill>
                <a:schemeClr val="tx1"/>
              </a:solidFill>
            </a:endParaRPr>
          </a:p>
          <a:p>
            <a:pPr lvl="3" indent="-285750">
              <a:buFont typeface="Arial" panose="020B060402020209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if not False:</a:t>
            </a:r>
            <a:br>
              <a:rPr lang="en-US" altLang="zh-CN" sz="2400">
                <a:solidFill>
                  <a:schemeClr val="tx1"/>
                </a:solidFill>
              </a:rPr>
            </a:br>
            <a:r>
              <a:rPr lang="en-US" altLang="zh-CN" sz="2400">
                <a:solidFill>
                  <a:schemeClr val="tx1"/>
                </a:solidFill>
              </a:rPr>
              <a:t>	print("This will also always print")</a:t>
            </a:r>
            <a:endParaRPr lang="en-US" altLang="zh-CN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Program Comments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7690" y="1273175"/>
            <a:ext cx="5149215" cy="5584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Comments: improve readability</a:t>
            </a:r>
            <a:endParaRPr lang="zh-CN" altLang="en-US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Use # or '''xxx'''</a:t>
            </a:r>
            <a:endParaRPr lang="zh-CN" altLang="en-US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There are some interesting things about comments</a:t>
            </a:r>
            <a:endParaRPr lang="zh-CN" altLang="en-US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6905" y="1273810"/>
            <a:ext cx="6197600" cy="4241800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6187440" y="2687320"/>
            <a:ext cx="1095375" cy="369570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/>
          </a:p>
        </p:txBody>
      </p:sp>
      <p:sp>
        <p:nvSpPr>
          <p:cNvPr id="8" name="椭圆 7"/>
          <p:cNvSpPr/>
          <p:nvPr/>
        </p:nvSpPr>
        <p:spPr>
          <a:xfrm>
            <a:off x="6805930" y="2352040"/>
            <a:ext cx="1095375" cy="369570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/>
          </a:p>
        </p:txBody>
      </p:sp>
      <p:sp>
        <p:nvSpPr>
          <p:cNvPr id="9" name="椭圆 8"/>
          <p:cNvSpPr/>
          <p:nvPr/>
        </p:nvSpPr>
        <p:spPr>
          <a:xfrm>
            <a:off x="6187440" y="3804920"/>
            <a:ext cx="1095375" cy="369570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/>
          </a:p>
        </p:txBody>
      </p:sp>
      <p:sp>
        <p:nvSpPr>
          <p:cNvPr id="10" name="椭圆 9"/>
          <p:cNvSpPr/>
          <p:nvPr/>
        </p:nvSpPr>
        <p:spPr>
          <a:xfrm>
            <a:off x="6187440" y="4591685"/>
            <a:ext cx="1095375" cy="369570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/>
          </a:p>
        </p:txBody>
      </p:sp>
      <p:sp>
        <p:nvSpPr>
          <p:cNvPr id="11" name="椭圆 10"/>
          <p:cNvSpPr/>
          <p:nvPr/>
        </p:nvSpPr>
        <p:spPr>
          <a:xfrm>
            <a:off x="6976745" y="1570355"/>
            <a:ext cx="1095375" cy="369570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/>
          </a:p>
        </p:txBody>
      </p:sp>
      <p:sp>
        <p:nvSpPr>
          <p:cNvPr id="12" name="矩形 11"/>
          <p:cNvSpPr/>
          <p:nvPr/>
        </p:nvSpPr>
        <p:spPr>
          <a:xfrm>
            <a:off x="5525770" y="1200150"/>
            <a:ext cx="2873375" cy="370205"/>
          </a:xfrm>
          <a:prstGeom prst="rect">
            <a:avLst/>
          </a:prstGeom>
          <a:noFill/>
          <a:ln w="28575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/>
          </a:p>
        </p:txBody>
      </p:sp>
      <p:sp>
        <p:nvSpPr>
          <p:cNvPr id="13" name="矩形 12"/>
          <p:cNvSpPr/>
          <p:nvPr/>
        </p:nvSpPr>
        <p:spPr>
          <a:xfrm>
            <a:off x="5485765" y="3429000"/>
            <a:ext cx="833120" cy="630555"/>
          </a:xfrm>
          <a:prstGeom prst="rect">
            <a:avLst/>
          </a:prstGeom>
          <a:noFill/>
          <a:ln w="28575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/>
          </a:p>
        </p:txBody>
      </p:sp>
      <p:sp>
        <p:nvSpPr>
          <p:cNvPr id="14" name="矩形 13"/>
          <p:cNvSpPr/>
          <p:nvPr/>
        </p:nvSpPr>
        <p:spPr>
          <a:xfrm>
            <a:off x="5525770" y="4505960"/>
            <a:ext cx="833120" cy="630555"/>
          </a:xfrm>
          <a:prstGeom prst="rect">
            <a:avLst/>
          </a:prstGeom>
          <a:noFill/>
          <a:ln w="28575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/>
          </a:p>
        </p:txBody>
      </p:sp>
      <p:sp>
        <p:nvSpPr>
          <p:cNvPr id="15" name="矩形 14"/>
          <p:cNvSpPr/>
          <p:nvPr/>
        </p:nvSpPr>
        <p:spPr>
          <a:xfrm>
            <a:off x="5652770" y="2479040"/>
            <a:ext cx="833120" cy="630555"/>
          </a:xfrm>
          <a:prstGeom prst="rect">
            <a:avLst/>
          </a:prstGeom>
          <a:noFill/>
          <a:ln w="28575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850" y="554990"/>
            <a:ext cx="5803900" cy="57023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1030" y="631190"/>
            <a:ext cx="6781800" cy="56261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885" y="300990"/>
            <a:ext cx="5689600" cy="5956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11" grpId="0" bldLvl="0" animBg="1"/>
      <p:bldP spid="5" grpId="0" bldLvl="0" animBg="1"/>
      <p:bldP spid="9" grpId="0" bldLvl="0" animBg="1"/>
      <p:bldP spid="10" grpId="0" bldLvl="0" animBg="1"/>
      <p:bldP spid="8" grpId="1" animBg="1"/>
      <p:bldP spid="11" grpId="1" animBg="1"/>
      <p:bldP spid="5" grpId="1" animBg="1"/>
      <p:bldP spid="9" grpId="1" animBg="1"/>
      <p:bldP spid="10" grpId="1" animBg="1"/>
      <p:bldP spid="12" grpId="0" bldLvl="0" animBg="1"/>
      <p:bldP spid="13" grpId="0" bldLvl="0" animBg="1"/>
      <p:bldP spid="14" grpId="0" bldLvl="0" animBg="1"/>
      <p:bldP spid="12" grpId="1" animBg="1"/>
      <p:bldP spid="13" grpId="1" animBg="1"/>
      <p:bldP spid="14" grpId="1" animBg="1"/>
      <p:bldP spid="15" grpId="0" bldLvl="0" animBg="1"/>
      <p:bldP spid="15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107549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Statements and Functions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7690" y="1273175"/>
            <a:ext cx="5181600" cy="5584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 indent="-285750">
              <a:buFont typeface="Arial" panose="020B0604020202090204" pitchFamily="34" charset="0"/>
              <a:buChar char="•"/>
            </a:pPr>
            <a:r>
              <a:rPr lang="zh-CN" altLang="zh-CN" sz="2000">
                <a:ea typeface="宋体" pitchFamily="2" charset="-122"/>
                <a:sym typeface="+mn-ea"/>
              </a:rPr>
              <a:t>Statements are process-building blocks in Python programs. They are used to define functions and classes, create objects, assign variables, call functions, control branches, create loops, and more.</a:t>
            </a:r>
            <a:endParaRPr lang="zh-CN" altLang="zh-CN" sz="2000">
              <a:ea typeface="宋体" pitchFamily="2" charset="-122"/>
              <a:sym typeface="+mn-ea"/>
            </a:endParaRPr>
          </a:p>
          <a:p>
            <a:pPr marL="0" lvl="1" indent="-285750">
              <a:buFont typeface="Arial" panose="020B0604020202090204" pitchFamily="34" charset="0"/>
              <a:buChar char="•"/>
            </a:pPr>
            <a:r>
              <a:rPr lang="en-US" altLang="zh-CN" sz="2000">
                <a:ea typeface="宋体" pitchFamily="2" charset="-122"/>
                <a:sym typeface="+mn-ea"/>
              </a:rPr>
              <a:t>Python statements are divided into </a:t>
            </a:r>
            <a:r>
              <a:rPr lang="en-US" altLang="zh-CN" sz="2000">
                <a:solidFill>
                  <a:srgbClr val="FF0000"/>
                </a:solidFill>
                <a:ea typeface="宋体" pitchFamily="2" charset="-122"/>
                <a:sym typeface="+mn-ea"/>
              </a:rPr>
              <a:t>simple statements</a:t>
            </a:r>
            <a:r>
              <a:rPr lang="en-US" altLang="zh-CN" sz="2000">
                <a:ea typeface="宋体" pitchFamily="2" charset="-122"/>
                <a:sym typeface="+mn-ea"/>
              </a:rPr>
              <a:t> and </a:t>
            </a:r>
            <a:r>
              <a:rPr lang="en-US" altLang="zh-CN" sz="2000">
                <a:solidFill>
                  <a:srgbClr val="FF0000"/>
                </a:solidFill>
                <a:ea typeface="宋体" pitchFamily="2" charset="-122"/>
                <a:sym typeface="+mn-ea"/>
              </a:rPr>
              <a:t>compound statements</a:t>
            </a:r>
            <a:endParaRPr lang="zh-CN" altLang="zh-CN" sz="2000">
              <a:solidFill>
                <a:srgbClr val="FF0000"/>
              </a:solidFill>
              <a:ea typeface="宋体" pitchFamily="2" charset="-122"/>
              <a:sym typeface="+mn-ea"/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zh-CN" altLang="zh-CN" sz="2000">
                <a:ea typeface="宋体" pitchFamily="2" charset="-122"/>
                <a:sym typeface="+mn-ea"/>
              </a:rPr>
              <a:t>Simple statements include expression statements, assignment statements, and so on</a:t>
            </a:r>
            <a:endParaRPr lang="zh-CN" altLang="zh-CN" sz="2000">
              <a:ea typeface="宋体" pitchFamily="2" charset="-122"/>
              <a:sym typeface="+mn-ea"/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zh-CN" altLang="zh-CN" sz="2000">
                <a:ea typeface="宋体" pitchFamily="2" charset="-122"/>
                <a:sym typeface="+mn-ea"/>
              </a:rPr>
              <a:t>Compound statements include if, while, for, try, and with statements, function definitions, class definitions, and so on</a:t>
            </a:r>
            <a:endParaRPr lang="zh-CN" altLang="zh-CN" sz="2000">
              <a:solidFill>
                <a:schemeClr val="tx1"/>
              </a:solidFill>
              <a:ea typeface="宋体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4400" y="1273175"/>
            <a:ext cx="6197600" cy="4241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107549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Statements and Functions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7690" y="1273175"/>
            <a:ext cx="11226800" cy="5584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 indent="-285750">
              <a:buFont typeface="Arial" panose="020B0604020202090204" pitchFamily="34" charset="0"/>
              <a:buChar char="•"/>
            </a:pPr>
            <a:r>
              <a:rPr lang="zh-CN" altLang="zh-CN" sz="2400">
                <a:ea typeface="宋体" pitchFamily="2" charset="-122"/>
                <a:sym typeface="+mn-ea"/>
              </a:rPr>
              <a:t>Statement-writing rules: follow the rules, build good habits, and avoid messy code</a:t>
            </a:r>
            <a:endParaRPr lang="en-US" altLang="zh-CN" sz="2400">
              <a:ea typeface="宋体" pitchFamily="2" charset="-122"/>
              <a:sym typeface="+mn-ea"/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zh-CN" altLang="zh-CN" sz="2400">
                <a:ea typeface="宋体" pitchFamily="2" charset="-122"/>
                <a:sym typeface="+mn-ea"/>
              </a:rPr>
              <a:t>Use line breaks to separate statements; generally, write one statement per line</a:t>
            </a:r>
            <a:endParaRPr lang="zh-CN" altLang="zh-CN" sz="2400">
              <a:ea typeface="宋体" pitchFamily="2" charset="-122"/>
              <a:sym typeface="+mn-ea"/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zh-CN" altLang="zh-CN" sz="2400">
                <a:ea typeface="宋体" pitchFamily="2" charset="-122"/>
                <a:sym typeface="+mn-ea"/>
              </a:rPr>
              <a:t>Start from the first column with no leading spaces, or a syntax error may occur. Note: comments can start anywhere; compound statement blocks must be indented.</a:t>
            </a:r>
            <a:endParaRPr lang="zh-CN" altLang="zh-CN" sz="2400">
              <a:ea typeface="宋体" pitchFamily="2" charset="-122"/>
              <a:sym typeface="+mn-ea"/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zh-CN" altLang="zh-CN" sz="2400">
                <a:ea typeface="宋体" pitchFamily="2" charset="-122"/>
                <a:sym typeface="+mn-ea"/>
              </a:rPr>
              <a:t>A backslash (\) is used when one line of code spans multiple lines. If a statement is too long, use the line-continuation character (\).</a:t>
            </a:r>
            <a:endParaRPr lang="zh-CN" altLang="zh-CN" sz="2400">
              <a:ea typeface="宋体" pitchFamily="2" charset="-122"/>
              <a:sym typeface="+mn-ea"/>
            </a:endParaRPr>
          </a:p>
          <a:p>
            <a:pPr lvl="3" indent="-285750">
              <a:buFont typeface="Arial" panose="020B0604020202090204" pitchFamily="34" charset="0"/>
              <a:buChar char="•"/>
            </a:pPr>
            <a:r>
              <a:rPr lang="zh-CN" altLang="en-US" sz="2400">
                <a:ea typeface="宋体" pitchFamily="2" charset="-122"/>
                <a:sym typeface="+mn-ea"/>
              </a:rPr>
              <a:t>Strings defined with triple quotes ("""...""" or '''...'''), and content inside parentheses, tuples, lists, or dictionaries can span multiple lines without a continuation character.</a:t>
            </a:r>
            <a:endParaRPr lang="zh-CN" altLang="en-US" sz="2400">
              <a:ea typeface="宋体" pitchFamily="2" charset="-122"/>
              <a:sym typeface="+mn-ea"/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zh-CN" altLang="zh-CN" sz="2400">
                <a:ea typeface="宋体" pitchFamily="2" charset="-122"/>
                <a:sym typeface="+mn-ea"/>
              </a:rPr>
              <a:t>Semicolons (;) are used to write multiple statements on one line (avoid this when possible)</a:t>
            </a:r>
            <a:endParaRPr lang="en-US" altLang="zh-CN" sz="2400"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107549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Statements and Functions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7690" y="1273175"/>
            <a:ext cx="5181600" cy="5584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A function is a reusable block of code</a:t>
            </a:r>
            <a:endParaRPr lang="zh-CN" altLang="en-US" sz="2400">
              <a:sym typeface="+mn-ea"/>
            </a:endParaRPr>
          </a:p>
          <a:p>
            <a:pPr marL="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A functional process that produces different outputs based on input parameters</a:t>
            </a:r>
            <a:endParaRPr lang="zh-CN" altLang="en-US" sz="2400">
              <a:solidFill>
                <a:schemeClr val="tx1"/>
              </a:solidFill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Similar to x -&gt; y in mathematics</a:t>
            </a:r>
            <a:endParaRPr lang="en-US" altLang="zh-CN" sz="2400">
              <a:solidFill>
                <a:schemeClr val="tx1"/>
              </a:solidFill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en-US" altLang="zh-CN" sz="2400">
                <a:sym typeface="+mn-ea"/>
              </a:rPr>
              <a:t>print()</a:t>
            </a:r>
            <a:endParaRPr lang="en-US" altLang="zh-CN" sz="2400">
              <a:solidFill>
                <a:schemeClr val="tx1"/>
              </a:solidFill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en-US" altLang="zh-CN" sz="2400">
                <a:sym typeface="+mn-ea"/>
              </a:rPr>
              <a:t>input()</a:t>
            </a:r>
            <a:endParaRPr lang="en-US" altLang="zh-CN" sz="2400">
              <a:solidFill>
                <a:schemeClr val="tx1"/>
              </a:solidFill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en-US" altLang="zh-CN" sz="2400">
                <a:sym typeface="+mn-ea"/>
              </a:rPr>
              <a:t>... are all built-in functions</a:t>
            </a:r>
            <a:endParaRPr lang="zh-CN" altLang="en-US" sz="2400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4400" y="1273175"/>
            <a:ext cx="6197600" cy="4241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690" y="631190"/>
            <a:ext cx="107549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Input and Output -- print()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67055" y="2938780"/>
            <a:ext cx="10647680" cy="611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Several values can be printed together by separating them with commas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7690" y="1273175"/>
            <a:ext cx="10901680" cy="687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 indent="-285750">
              <a:buFont typeface="Arial" panose="020B0604020202090204" pitchFamily="34" charset="0"/>
              <a:buChar char="•"/>
            </a:pPr>
            <a:r>
              <a:rPr lang="en-US" altLang="zh-CN" sz="2400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The print() function displays values on the screen：</a:t>
            </a:r>
            <a:br>
              <a:rPr lang="en-US" altLang="zh-CN" sz="2400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</a:br>
            <a:r>
              <a:rPr lang="en-US" altLang="zh-CN" sz="2400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	</a:t>
            </a:r>
            <a:endParaRPr lang="zh-CN" altLang="en-US" sz="2400"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740" y="1807210"/>
            <a:ext cx="11372850" cy="9906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85" y="3429000"/>
            <a:ext cx="11506200" cy="25844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59740" y="6013450"/>
            <a:ext cx="10647680" cy="611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This is important because it can let us know what is calculated.</a:t>
            </a:r>
            <a:endParaRPr lang="en-US" altLang="zh-CN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6" grpId="0"/>
      <p:bldP spid="6" grpId="1"/>
      <p:bldP spid="5" grpId="0"/>
      <p:bldP spid="5" grpId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107549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Input and Output -- input()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7690" y="1273175"/>
            <a:ext cx="10901680" cy="687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 indent="-285750">
              <a:buFont typeface="Arial" panose="020B0604020202090204" pitchFamily="34" charset="0"/>
              <a:buChar char="•"/>
            </a:pPr>
            <a:r>
              <a:rPr lang="en-US" altLang="zh-CN" sz="2400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The input() function allows a user to enter information：</a:t>
            </a:r>
            <a:br>
              <a:rPr lang="en-US" altLang="zh-CN" sz="2400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</a:br>
            <a:r>
              <a:rPr lang="en-US" altLang="zh-CN" sz="2400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	</a:t>
            </a:r>
            <a:endParaRPr lang="zh-CN" altLang="en-US" sz="2400"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305" y="1717675"/>
            <a:ext cx="11525250" cy="8191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05" y="2676525"/>
            <a:ext cx="11652250" cy="24384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35305" y="5114925"/>
            <a:ext cx="10901680" cy="687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 indent="-285750">
              <a:buFont typeface="Arial" panose="020B0604020202090204" pitchFamily="34" charset="0"/>
              <a:buChar char="•"/>
            </a:pPr>
            <a:r>
              <a:rPr lang="en-US" altLang="zh-CN" sz="2400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This 18 cannot be directly used for calculations!</a:t>
            </a:r>
            <a:endParaRPr lang="en-US" altLang="zh-CN" sz="2400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4" grpId="0"/>
      <p:bldP spid="4" grpId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107549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Statements and Functions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7690" y="1273175"/>
            <a:ext cx="10901680" cy="5584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Example: write the area calculation from Example 2.1 as a function</a:t>
            </a:r>
            <a:endParaRPr lang="zh-CN" altLang="en-US" sz="2400">
              <a:sym typeface="+mn-ea"/>
            </a:endParaRPr>
          </a:p>
          <a:p>
            <a:pPr marL="0" lvl="1">
              <a:buFont typeface="Arial" panose="020B0604020202090204" pitchFamily="34" charset="0"/>
            </a:pPr>
            <a:r>
              <a:rPr lang="zh-CN" altLang="en-US" sz="2400">
                <a:sym typeface="+mn-ea"/>
              </a:rPr>
              <a:t>	def calTri(a,b,c):</a:t>
            </a:r>
            <a:endParaRPr lang="zh-CN" altLang="en-US" sz="2400">
              <a:sym typeface="+mn-ea"/>
            </a:endParaRPr>
          </a:p>
          <a:p>
            <a:pPr marL="0" lvl="1">
              <a:buFont typeface="Arial" panose="020B0604020202090204" pitchFamily="34" charset="0"/>
            </a:pPr>
            <a:r>
              <a:rPr lang="zh-CN" altLang="en-US" sz="2400">
                <a:sym typeface="+mn-ea"/>
              </a:rPr>
              <a:t>	     h = (a+b+c)/2</a:t>
            </a:r>
            <a:endParaRPr lang="zh-CN" altLang="en-US" sz="2400">
              <a:sym typeface="+mn-ea"/>
            </a:endParaRPr>
          </a:p>
          <a:p>
            <a:pPr marL="0" lvl="1">
              <a:buFont typeface="Arial" panose="020B0604020202090204" pitchFamily="34" charset="0"/>
            </a:pPr>
            <a:r>
              <a:rPr lang="zh-CN" altLang="en-US" sz="2400">
                <a:sym typeface="+mn-ea"/>
              </a:rPr>
              <a:t>                s = math.sqrt(h*(h-a)*(h-b)*(h-c)) </a:t>
            </a:r>
            <a:endParaRPr lang="zh-CN" altLang="en-US" sz="2400">
              <a:sym typeface="+mn-ea"/>
            </a:endParaRPr>
          </a:p>
          <a:p>
            <a:pPr marL="0" lvl="1">
              <a:buFont typeface="Arial" panose="020B0604020202090204" pitchFamily="34" charset="0"/>
            </a:pPr>
            <a:r>
              <a:rPr lang="zh-CN" altLang="en-US" sz="2400">
                <a:sym typeface="+mn-ea"/>
              </a:rPr>
              <a:t>               return s</a:t>
            </a:r>
            <a:endParaRPr lang="en-US" altLang="zh-CN" sz="2400">
              <a:solidFill>
                <a:schemeClr val="tx1"/>
              </a:solidFill>
              <a:cs typeface="Arial" panose="020B0604020202090204" pitchFamily="34" charset="0"/>
              <a:sym typeface="+mn-ea"/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When the input is a=2, b=3, c=4, you can call calTri to get the area</a:t>
            </a:r>
            <a:endParaRPr lang="zh-CN" altLang="en-US" sz="2400">
              <a:sym typeface="+mn-ea"/>
            </a:endParaRPr>
          </a:p>
          <a:p>
            <a:pPr lvl="1" indent="-285750">
              <a:buFont typeface="Arial" panose="020B0604020202090204" pitchFamily="34" charset="0"/>
              <a:buChar char="•"/>
            </a:pPr>
            <a:endParaRPr lang="en-US" altLang="zh-CN" sz="2400">
              <a:sym typeface="+mn-ea"/>
            </a:endParaRPr>
          </a:p>
          <a:p>
            <a:pPr lvl="1" indent="-285750">
              <a:buFont typeface="Arial" panose="020B0604020202090204" pitchFamily="34" charset="0"/>
              <a:buChar char="•"/>
            </a:pPr>
            <a:endParaRPr lang="en-US" altLang="zh-CN" sz="2400">
              <a:sym typeface="+mn-ea"/>
            </a:endParaRPr>
          </a:p>
          <a:p>
            <a:pPr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We will learn more about functions later!</a:t>
            </a:r>
            <a:endParaRPr lang="en-US" altLang="zh-CN" sz="2400">
              <a:sym typeface="+mn-ea"/>
            </a:endParaRPr>
          </a:p>
          <a:p>
            <a:pPr lvl="1" indent="-285750">
              <a:buFont typeface="Arial" panose="020B0604020202090204" pitchFamily="34" charset="0"/>
              <a:buChar char="•"/>
            </a:pPr>
            <a:endParaRPr lang="en-US" altLang="zh-CN" sz="2400">
              <a:sym typeface="+mn-ea"/>
            </a:endParaRPr>
          </a:p>
          <a:p>
            <a:pPr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sym typeface="+mn-ea"/>
              </a:rPr>
              <a:t>Here we only introduce a few simple built-in functions</a:t>
            </a:r>
            <a:endParaRPr lang="en-US" altLang="zh-CN" sz="24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107549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Statements and Functions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7690" y="1273175"/>
            <a:ext cx="10901680" cy="5584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 indent="-285750">
              <a:buFont typeface="Arial" panose="020B0604020202090204" pitchFamily="34" charset="0"/>
              <a:buChar char="•"/>
            </a:pPr>
            <a:r>
              <a:rPr lang="en-US" altLang="zh-CN" sz="2400">
                <a:ea typeface="宋体" pitchFamily="2" charset="-122"/>
                <a:sym typeface="+mn-ea"/>
              </a:rPr>
              <a:t>type(), id(), help(), len(), sum(), max(), min(), and others (try them in the interpreter)</a:t>
            </a:r>
            <a:endParaRPr lang="en-US" altLang="zh-CN" sz="2400">
              <a:ea typeface="宋体" pitchFamily="2" charset="-122"/>
              <a:sym typeface="+mn-ea"/>
            </a:endParaRPr>
          </a:p>
          <a:p>
            <a:pPr marL="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ea typeface="宋体" pitchFamily="2" charset="-122"/>
                <a:sym typeface="+mn-ea"/>
              </a:rPr>
              <a:t>The input() and print() functions enable user interaction</a:t>
            </a:r>
            <a:endParaRPr lang="zh-CN" altLang="en-US" sz="2400">
              <a:ea typeface="宋体" pitchFamily="2" charset="-122"/>
              <a:sym typeface="+mn-ea"/>
            </a:endParaRPr>
          </a:p>
          <a:p>
            <a:pPr marL="0" lvl="1" indent="-285750">
              <a:buFont typeface="Arial" panose="020B0604020202090204" pitchFamily="34" charset="0"/>
              <a:buChar char="•"/>
            </a:pPr>
            <a:endParaRPr lang="en-US" altLang="zh-CN" sz="2400">
              <a:ea typeface="宋体" pitchFamily="2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67055" y="2663161"/>
            <a:ext cx="10676557" cy="30460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>
            <a:spAutoFit/>
          </a:bodyPr>
          <a:p>
            <a:pPr marL="400050" algn="just">
              <a:spcAft>
                <a:spcPts val="0"/>
              </a:spcAft>
              <a:defRPr/>
            </a:pPr>
            <a:r>
              <a:rPr lang="zh-CN" altLang="en-US" sz="2400" b="1" kern="100" dirty="0">
                <a:highlight>
                  <a:srgbClr val="00FFFF"/>
                </a:highlight>
                <a:latin typeface="Times New Roman" panose="02020503050405090304" charset="0"/>
                <a:ea typeface="宋体" pitchFamily="2" charset="-122"/>
              </a:rPr>
              <a:t>Built-in Function Example 1</a:t>
            </a:r>
            <a:endParaRPr lang="en-US" altLang="zh-CN" sz="2400" b="1" kern="100" dirty="0">
              <a:highlight>
                <a:srgbClr val="00FFFF"/>
              </a:highlight>
              <a:latin typeface="Times New Roman" panose="02020503050405090304" charset="0"/>
              <a:ea typeface="宋体" pitchFamily="2" charset="-122"/>
            </a:endParaRPr>
          </a:p>
          <a:p>
            <a:pPr marL="400050" algn="just">
              <a:spcAft>
                <a:spcPts val="0"/>
              </a:spcAft>
              <a:defRPr/>
            </a:pPr>
            <a:r>
              <a:rPr lang="en-US" altLang="zh-CN" sz="2400" b="1" kern="100" dirty="0">
                <a:latin typeface="Times New Roman" panose="02020503050405090304" charset="0"/>
                <a:ea typeface="宋体" pitchFamily="2" charset="-122"/>
              </a:rPr>
              <a:t>&gt;&gt;&gt; s="Python is fun"</a:t>
            </a:r>
            <a:endParaRPr lang="en-US" altLang="zh-CN" sz="2400" b="1" kern="100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</a:endParaRPr>
          </a:p>
          <a:p>
            <a:pPr marL="400050" algn="just">
              <a:spcAft>
                <a:spcPts val="0"/>
              </a:spcAft>
              <a:defRPr/>
            </a:pPr>
            <a:r>
              <a:rPr lang="en-US" altLang="zh-CN" sz="2400" b="1" kern="100" dirty="0">
                <a:latin typeface="Times New Roman" panose="02020503050405090304" charset="0"/>
                <a:ea typeface="宋体" pitchFamily="2" charset="-122"/>
              </a:rPr>
              <a:t>&gt;&gt;&gt; type(s)         # returns the data type of object s. Output: &lt;class 'str'&gt;</a:t>
            </a:r>
            <a:endParaRPr lang="en-US" altLang="zh-CN" sz="2400" b="1" kern="100" dirty="0">
              <a:highlight>
                <a:srgbClr val="FFFF00"/>
              </a:highlight>
              <a:latin typeface="Times New Roman" panose="02020503050405090304" charset="0"/>
              <a:ea typeface="宋体" pitchFamily="2" charset="-122"/>
            </a:endParaRPr>
          </a:p>
          <a:p>
            <a:pPr marL="400050" algn="just">
              <a:spcAft>
                <a:spcPts val="0"/>
              </a:spcAft>
              <a:defRPr/>
            </a:pPr>
            <a:r>
              <a:rPr lang="en-US" altLang="zh-CN" sz="2400" b="1" kern="100" dirty="0">
                <a:latin typeface="Times New Roman" panose="02020503050405090304" charset="0"/>
                <a:ea typeface="宋体" pitchFamily="2" charset="-122"/>
              </a:rPr>
              <a:t>&gt;&gt;&gt; len(s)             # returns the length of string s. Output: 13</a:t>
            </a:r>
            <a:endParaRPr lang="en-US" altLang="zh-CN" sz="2400" b="1" kern="100" dirty="0">
              <a:highlight>
                <a:srgbClr val="FFFF00"/>
              </a:highlight>
              <a:latin typeface="Times New Roman" panose="02020503050405090304" charset="0"/>
              <a:ea typeface="宋体" pitchFamily="2" charset="-122"/>
            </a:endParaRPr>
          </a:p>
          <a:p>
            <a:pPr marL="400050" algn="just">
              <a:spcAft>
                <a:spcPts val="0"/>
              </a:spcAft>
              <a:defRPr/>
            </a:pPr>
            <a:r>
              <a:rPr lang="en-US" altLang="zh-CN" sz="2400" b="1" kern="100" dirty="0">
                <a:latin typeface="Times New Roman" panose="02020503050405090304" charset="0"/>
                <a:ea typeface="宋体" pitchFamily="2" charset="-122"/>
              </a:rPr>
              <a:t>&gt;&gt;&gt; </a:t>
            </a:r>
            <a:r>
              <a:rPr lang="en-US" altLang="zh-CN" sz="2400" b="1" kern="100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</a:rPr>
              <a:t>s1 = [1,2,3,4,5]</a:t>
            </a:r>
            <a:endParaRPr lang="en-US" altLang="zh-CN" sz="2400" b="1" kern="100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</a:endParaRPr>
          </a:p>
          <a:p>
            <a:pPr marL="400050" algn="just">
              <a:spcAft>
                <a:spcPts val="0"/>
              </a:spcAft>
              <a:defRPr/>
            </a:pPr>
            <a:r>
              <a:rPr lang="en-US" altLang="zh-CN" sz="2400" b="1" kern="100" dirty="0">
                <a:latin typeface="Times New Roman" panose="02020503050405090304" charset="0"/>
                <a:ea typeface="宋体" pitchFamily="2" charset="-122"/>
              </a:rPr>
              <a:t>&gt;&gt;&gt; max(s1)           # returns the maximum value in list s1. Output: 5</a:t>
            </a:r>
            <a:endParaRPr lang="en-US" altLang="zh-CN" sz="2400" b="1" kern="100" dirty="0">
              <a:highlight>
                <a:srgbClr val="FFFF00"/>
              </a:highlight>
              <a:latin typeface="Times New Roman" panose="02020503050405090304" charset="0"/>
              <a:ea typeface="宋体" pitchFamily="2" charset="-122"/>
            </a:endParaRPr>
          </a:p>
          <a:p>
            <a:pPr marL="400050" algn="just">
              <a:spcAft>
                <a:spcPts val="0"/>
              </a:spcAft>
              <a:defRPr/>
            </a:pPr>
            <a:r>
              <a:rPr lang="en-US" altLang="zh-CN" sz="2400" b="1" kern="100" dirty="0">
                <a:latin typeface="Times New Roman" panose="02020503050405090304" charset="0"/>
                <a:ea typeface="宋体" pitchFamily="2" charset="-122"/>
              </a:rPr>
              <a:t>&gt;&gt;&gt; min(s1)           # returns the minimum value in list s1. Output: 1</a:t>
            </a:r>
            <a:endParaRPr lang="en-US" altLang="zh-CN" sz="2400" b="1" kern="100" dirty="0">
              <a:highlight>
                <a:srgbClr val="FFFF00"/>
              </a:highlight>
              <a:latin typeface="Times New Roman" panose="02020503050405090304" charset="0"/>
              <a:ea typeface="宋体" pitchFamily="2" charset="-122"/>
            </a:endParaRPr>
          </a:p>
          <a:p>
            <a:pPr marL="400050" algn="just">
              <a:spcAft>
                <a:spcPts val="0"/>
              </a:spcAft>
              <a:defRPr/>
            </a:pPr>
            <a:r>
              <a:rPr lang="en-US" altLang="zh-CN" sz="2400" b="1" kern="100" dirty="0">
                <a:latin typeface="Times New Roman" panose="02020503050405090304" charset="0"/>
                <a:ea typeface="宋体" pitchFamily="2" charset="-122"/>
              </a:rPr>
              <a:t>&gt;&gt;&gt; sum(s1)/len(s1)     # returns the average value of list s1. Output: 3.0</a:t>
            </a:r>
            <a:endParaRPr lang="en-US" altLang="zh-CN" sz="2400" b="1" kern="100" dirty="0">
              <a:highlight>
                <a:srgbClr val="FFFF00"/>
              </a:highlight>
              <a:latin typeface="Times New Roman" panose="0202050305040509030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107549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Statements and Functions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7690" y="1273175"/>
            <a:ext cx="10901680" cy="5584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 indent="-285750">
              <a:buFont typeface="Arial" panose="020B0604020202090204" pitchFamily="34" charset="0"/>
              <a:buChar char="•"/>
            </a:pPr>
            <a:r>
              <a:rPr lang="zh-CN" altLang="zh-CN" sz="2400" dirty="0">
                <a:ea typeface="宋体" pitchFamily="2" charset="-122"/>
                <a:sym typeface="+mn-ea"/>
              </a:rPr>
              <a:t>With an import statement, you can import a module and call functions in it using module.function(arguments)</a:t>
            </a:r>
            <a:endParaRPr lang="zh-CN" altLang="zh-CN" sz="2400" dirty="0">
              <a:ea typeface="宋体" pitchFamily="2" charset="-122"/>
              <a:sym typeface="+mn-ea"/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en-US" altLang="zh-CN" sz="2400" dirty="0">
                <a:ea typeface="宋体" pitchFamily="2" charset="-122"/>
                <a:sym typeface="+mn-ea"/>
              </a:rPr>
              <a:t>import module_name # import a module</a:t>
            </a:r>
            <a:endParaRPr lang="zh-CN" altLang="en-US" sz="2400" dirty="0">
              <a:ea typeface="宋体" pitchFamily="2" charset="-122"/>
              <a:sym typeface="+mn-ea"/>
            </a:endParaRPr>
          </a:p>
          <a:p>
            <a:pPr lvl="3" indent="-285750">
              <a:buFont typeface="Arial" panose="020B0604020202090204" pitchFamily="34" charset="0"/>
              <a:buChar char="•"/>
            </a:pPr>
            <a:r>
              <a:rPr lang="zh-CN" altLang="en-US" sz="2400" dirty="0">
                <a:ea typeface="宋体" pitchFamily="2" charset="-122"/>
                <a:sym typeface="+mn-ea"/>
              </a:rPr>
              <a:t>module_name.function_name() # use a function from the imported module</a:t>
            </a:r>
            <a:endParaRPr lang="zh-CN" altLang="en-US" sz="2400" dirty="0">
              <a:ea typeface="宋体" pitchFamily="2" charset="-122"/>
              <a:sym typeface="+mn-ea"/>
            </a:endParaRPr>
          </a:p>
          <a:p>
            <a:pPr lvl="3" indent="-285750">
              <a:buFont typeface="Arial" panose="020B0604020202090204" pitchFamily="34" charset="0"/>
              <a:buChar char="•"/>
            </a:pPr>
            <a:r>
              <a:rPr lang="zh-CN" altLang="en-US" sz="2400" dirty="0">
                <a:ea typeface="宋体" pitchFamily="2" charset="-122"/>
                <a:sym typeface="+mn-ea"/>
              </a:rPr>
              <a:t>module_name.variable # use a variable from the imported module</a:t>
            </a:r>
            <a:endParaRPr lang="zh-CN" altLang="zh-CN" sz="2400" dirty="0">
              <a:ea typeface="宋体" pitchFamily="2" charset="-122"/>
              <a:sym typeface="+mn-ea"/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zh-CN" altLang="zh-CN" sz="2400" dirty="0">
                <a:ea typeface="宋体" pitchFamily="2" charset="-122"/>
                <a:sym typeface="+mn-ea"/>
              </a:rPr>
              <a:t>For example, after import math:</a:t>
            </a:r>
            <a:endParaRPr lang="zh-CN" altLang="en-US" sz="2400" dirty="0">
              <a:ea typeface="宋体" pitchFamily="2" charset="-122"/>
              <a:sym typeface="+mn-ea"/>
            </a:endParaRPr>
          </a:p>
          <a:p>
            <a:pPr lvl="3" indent="-285750">
              <a:buFont typeface="Arial" panose="020B0604020202090204" pitchFamily="34" charset="0"/>
              <a:buChar char="•"/>
            </a:pPr>
            <a:r>
              <a:rPr lang="en-US" altLang="zh-CN" sz="2400" dirty="0">
                <a:ea typeface="宋体" pitchFamily="2" charset="-122"/>
                <a:sym typeface="+mn-ea"/>
              </a:rPr>
              <a:t>math.sqrt -- square root; math.sin -- sine function</a:t>
            </a:r>
            <a:endParaRPr lang="zh-CN" altLang="en-US" sz="2400" dirty="0">
              <a:ea typeface="宋体" pitchFamily="2" charset="-122"/>
              <a:sym typeface="+mn-ea"/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en-US" altLang="zh-CN" sz="2400" dirty="0">
                <a:ea typeface="宋体" pitchFamily="2" charset="-122"/>
                <a:sym typeface="+mn-ea"/>
              </a:rPr>
              <a:t>import random </a:t>
            </a:r>
            <a:endParaRPr lang="en-US" altLang="zh-CN" sz="2400" dirty="0">
              <a:ea typeface="宋体" pitchFamily="2" charset="-122"/>
              <a:sym typeface="+mn-ea"/>
            </a:endParaRPr>
          </a:p>
          <a:p>
            <a:pPr lvl="3" indent="-285750">
              <a:buFont typeface="Arial" panose="020B0604020202090204" pitchFamily="34" charset="0"/>
              <a:buChar char="•"/>
            </a:pPr>
            <a:r>
              <a:rPr lang="zh-CN" altLang="en-US" sz="2400" dirty="0">
                <a:ea typeface="宋体" pitchFamily="2" charset="-122"/>
                <a:sym typeface="+mn-ea"/>
              </a:rPr>
              <a:t>Control random number generation</a:t>
            </a:r>
            <a:endParaRPr lang="zh-CN" altLang="zh-CN" sz="2400" dirty="0">
              <a:ea typeface="宋体" pitchFamily="2" charset="-122"/>
              <a:sym typeface="+mn-ea"/>
            </a:endParaRPr>
          </a:p>
          <a:p>
            <a:pPr marL="0" lvl="1" indent="-285750">
              <a:buFont typeface="Arial" panose="020B0604020202090204" pitchFamily="34" charset="0"/>
              <a:buChar char="•"/>
            </a:pPr>
            <a:r>
              <a:rPr lang="en-US" altLang="zh-CN" sz="2400">
                <a:ea typeface="宋体" pitchFamily="2" charset="-122"/>
                <a:sym typeface="+mn-ea"/>
              </a:rPr>
              <a:t>Python provides many built-in functions, standard library functions, and third-party module functions</a:t>
            </a:r>
            <a:endParaRPr lang="zh-CN" altLang="zh-CN" sz="2400">
              <a:ea typeface="宋体" pitchFamily="2" charset="-122"/>
              <a:sym typeface="+mn-ea"/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ea typeface="宋体" pitchFamily="2" charset="-122"/>
                <a:sym typeface="+mn-ea"/>
              </a:rPr>
              <a:t>We can download third-party packages</a:t>
            </a:r>
            <a:endParaRPr lang="en-US" altLang="zh-CN" sz="2400">
              <a:ea typeface="宋体" pitchFamily="2" charset="-122"/>
              <a:sym typeface="+mn-ea"/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en-US" altLang="zh-CN" sz="2400">
                <a:ea typeface="宋体" pitchFamily="2" charset="-122"/>
                <a:sym typeface="+mn-ea"/>
              </a:rPr>
              <a:t>Import other .py files to call functions and classes defined in those files</a:t>
            </a:r>
            <a:endParaRPr lang="zh-CN" altLang="en-US" sz="2400">
              <a:ea typeface="宋体" pitchFamily="2" charset="-122"/>
              <a:sym typeface="+mn-ea"/>
            </a:endParaRPr>
          </a:p>
          <a:p>
            <a:pPr marL="0" lvl="1" indent="-285750">
              <a:buFont typeface="Arial" panose="020B0604020202090204" pitchFamily="34" charset="0"/>
              <a:buChar char="•"/>
            </a:pPr>
            <a:endParaRPr lang="en-US" altLang="zh-CN" sz="2400"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107549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Type Conversion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7690" y="1273175"/>
            <a:ext cx="10901680" cy="1130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 indent="-285750">
              <a:buFont typeface="Arial" panose="020B0604020202090204" pitchFamily="34" charset="0"/>
              <a:buChar char="•"/>
            </a:pPr>
            <a:r>
              <a:rPr lang="en-US" altLang="zh-CN" sz="2400" dirty="0">
                <a:ea typeface="宋体" pitchFamily="2" charset="-122"/>
                <a:sym typeface="+mn-ea"/>
              </a:rPr>
              <a:t>Type conversion changes a value from one data type to another.</a:t>
            </a:r>
            <a:endParaRPr lang="en-US" altLang="zh-CN" sz="2400" dirty="0">
              <a:ea typeface="宋体" pitchFamily="2" charset="-122"/>
              <a:sym typeface="+mn-ea"/>
            </a:endParaRPr>
          </a:p>
          <a:p>
            <a:pPr marL="0" lvl="1" indent="-285750">
              <a:buFont typeface="Arial" panose="020B0604020202090204" pitchFamily="34" charset="0"/>
              <a:buChar char="•"/>
            </a:pPr>
            <a:r>
              <a:rPr lang="zh-CN" altLang="en-US" sz="2400" dirty="0">
                <a:ea typeface="宋体" pitchFamily="2" charset="-122"/>
                <a:sym typeface="+mn-ea"/>
              </a:rPr>
              <a:t>Convert from one data type to another</a:t>
            </a:r>
            <a:endParaRPr lang="zh-CN" altLang="en-US" sz="2400" dirty="0">
              <a:ea typeface="宋体" pitchFamily="2" charset="-122"/>
              <a:sym typeface="+mn-ea"/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endParaRPr lang="zh-CN" altLang="en-US" sz="2400">
              <a:ea typeface="宋体" pitchFamily="2" charset="-122"/>
              <a:sym typeface="+mn-ea"/>
            </a:endParaRPr>
          </a:p>
          <a:p>
            <a:pPr marL="0" lvl="1" indent="-285750">
              <a:buFont typeface="Arial" panose="020B0604020202090204" pitchFamily="34" charset="0"/>
              <a:buChar char="•"/>
            </a:pPr>
            <a:endParaRPr lang="en-US" altLang="zh-CN" sz="2400">
              <a:ea typeface="宋体" pitchFamily="2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3255" y="1738630"/>
            <a:ext cx="5746750" cy="14414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256280"/>
            <a:ext cx="11734800" cy="2876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107549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Expressions and Operators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7690" y="1273175"/>
            <a:ext cx="10901680" cy="5584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 indent="-285750">
              <a:buFont typeface="Arial" panose="020B0604020202090204" pitchFamily="34" charset="0"/>
              <a:buChar char="•"/>
            </a:pPr>
            <a:r>
              <a:rPr lang="zh-CN" altLang="zh-CN" sz="2400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sym typeface="+mn-ea"/>
              </a:rPr>
              <a:t>Operands, operators, and parentheses form expressions according to rules: 4 + 5 = 9 (4 and 5 are operands; + is the operator)</a:t>
            </a:r>
            <a:br>
              <a:rPr lang="en-US" altLang="zh-CN" sz="2400" dirty="0">
                <a:latin typeface="宋体" pitchFamily="2" charset="-122"/>
                <a:ea typeface="宋体" pitchFamily="2" charset="-122"/>
                <a:sym typeface="+mn-ea"/>
              </a:rPr>
            </a:br>
            <a:endParaRPr lang="en-US" altLang="zh-CN" sz="2400" dirty="0">
              <a:latin typeface="宋体" pitchFamily="2" charset="-122"/>
              <a:ea typeface="宋体" pitchFamily="2" charset="-122"/>
              <a:sym typeface="+mn-ea"/>
            </a:endParaRPr>
          </a:p>
          <a:p>
            <a:pPr marL="0" lvl="1" indent="-285750">
              <a:buFont typeface="Arial" panose="020B0604020202090204" pitchFamily="34" charset="0"/>
              <a:buChar char="•"/>
            </a:pPr>
            <a:endParaRPr lang="zh-CN" altLang="zh-CN" sz="2400" dirty="0">
              <a:latin typeface="宋体" pitchFamily="2" charset="-122"/>
              <a:ea typeface="宋体" pitchFamily="2" charset="-122"/>
              <a:sym typeface="+mn-ea"/>
            </a:endParaRPr>
          </a:p>
          <a:p>
            <a:pPr marL="0" lvl="1" indent="-285750">
              <a:buFont typeface="Arial" panose="020B0604020202090204" pitchFamily="34" charset="0"/>
              <a:buChar char="•"/>
            </a:pPr>
            <a:r>
              <a:rPr lang="zh-CN" altLang="en-US" sz="2400">
                <a:latin typeface="宋体" pitchFamily="2" charset="-122"/>
                <a:ea typeface="宋体" pitchFamily="2" charset="-122"/>
                <a:sym typeface="+mn-ea"/>
              </a:rPr>
              <a:t>Mathematical formulas cannot be written directly; they must be represented with operators</a:t>
            </a:r>
            <a:endParaRPr lang="zh-CN" altLang="en-US" sz="2400">
              <a:latin typeface="宋体" pitchFamily="2" charset="-122"/>
              <a:ea typeface="宋体" pitchFamily="2" charset="-122"/>
              <a:sym typeface="+mn-ea"/>
            </a:endParaRPr>
          </a:p>
          <a:p>
            <a:pPr marL="0" lvl="1" indent="-285750">
              <a:buFont typeface="Arial" panose="020B0604020202090204" pitchFamily="34" charset="0"/>
              <a:buChar char="•"/>
            </a:pPr>
            <a:r>
              <a:rPr lang="zh-CN" altLang="zh-CN" sz="2400">
                <a:ea typeface="宋体" pitchFamily="2" charset="-122"/>
                <a:sym typeface="+mn-ea"/>
              </a:rPr>
              <a:t>Expressions are written from left to right on the same baseline. For example, the mathematical formula a2+b2 should be written as a**2+b**2 (a*a+b*b)</a:t>
            </a:r>
            <a:endParaRPr lang="en-US" altLang="zh-CN" sz="2400">
              <a:ea typeface="宋体" pitchFamily="2" charset="-122"/>
              <a:sym typeface="+mn-ea"/>
            </a:endParaRPr>
          </a:p>
          <a:p>
            <a:pPr marL="0" lvl="1" indent="-285750">
              <a:buFont typeface="Arial" panose="020B0604020202090204" pitchFamily="34" charset="0"/>
              <a:buChar char="•"/>
            </a:pPr>
            <a:r>
              <a:rPr lang="zh-CN" altLang="zh-CN" sz="2400">
                <a:ea typeface="宋体" pitchFamily="2" charset="-122"/>
                <a:sym typeface="+mn-ea"/>
              </a:rPr>
              <a:t>The multiplication sign cannot be omitted. For example, the formula ab (meaning a times b) should be written as a*b</a:t>
            </a:r>
            <a:endParaRPr lang="en-US" altLang="zh-CN" sz="2400">
              <a:ea typeface="宋体" pitchFamily="2" charset="-122"/>
              <a:sym typeface="+mn-ea"/>
            </a:endParaRPr>
          </a:p>
          <a:p>
            <a:pPr marL="0" lvl="1" indent="-285750">
              <a:buFont typeface="Arial" panose="020B0604020202090204" pitchFamily="34" charset="0"/>
              <a:buChar char="•"/>
            </a:pPr>
            <a:r>
              <a:rPr lang="zh-CN" altLang="zh-CN" sz="2400">
                <a:ea typeface="宋体" pitchFamily="2" charset="-122"/>
                <a:sym typeface="+mn-ea"/>
              </a:rPr>
              <a:t>Parentheses must appear in pairs, and only round parentheses are used; they can be nested</a:t>
            </a:r>
            <a:endParaRPr lang="zh-CN" altLang="en-US" sz="2400">
              <a:ea typeface="宋体" pitchFamily="2" charset="-122"/>
            </a:endParaRPr>
          </a:p>
          <a:p>
            <a:pPr marL="0" lvl="1" indent="-285750">
              <a:buFont typeface="Arial" panose="020B0604020202090204" pitchFamily="34" charset="0"/>
              <a:buChar char="•"/>
            </a:pPr>
            <a:endParaRPr lang="zh-CN" altLang="en-US" sz="2400">
              <a:latin typeface="宋体" pitchFamily="2" charset="-122"/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107549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Expressions and Operators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7690" y="1273175"/>
            <a:ext cx="10901680" cy="5584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 indent="-285750">
              <a:buFont typeface="Arial" panose="020B0604020202090204" pitchFamily="34" charset="0"/>
              <a:buChar char="•"/>
            </a:pPr>
            <a:endParaRPr lang="en-US" altLang="zh-CN" sz="2400">
              <a:latin typeface="宋体" pitchFamily="2" charset="-122"/>
              <a:ea typeface="宋体" pitchFamily="2" charset="-122"/>
              <a:sym typeface="+mn-ea"/>
            </a:endParaRPr>
          </a:p>
          <a:p>
            <a:pPr marL="0" lvl="1" indent="-285750">
              <a:buFont typeface="Arial" panose="020B0604020202090204" pitchFamily="34" charset="0"/>
              <a:buChar char="•"/>
            </a:pPr>
            <a:r>
              <a:rPr lang="en-US" altLang="zh-CN" sz="2400"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  <a:sym typeface="+mn-ea"/>
              </a:rPr>
              <a:t>Python supports the following types of operators:</a:t>
            </a:r>
            <a:endParaRPr lang="en-US" altLang="zh-CN" sz="2400">
              <a:latin typeface="宋体" pitchFamily="2" charset="-122"/>
              <a:ea typeface="宋体" pitchFamily="2" charset="-122"/>
              <a:sym typeface="+mn-ea"/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latin typeface="宋体" pitchFamily="2" charset="-122"/>
                <a:ea typeface="宋体" pitchFamily="2" charset="-122"/>
                <a:sym typeface="+mn-ea"/>
              </a:rPr>
              <a:t>Arithmetic operators: +, -, *, /</a:t>
            </a:r>
            <a:endParaRPr lang="zh-CN" altLang="en-US" sz="2400">
              <a:latin typeface="宋体" pitchFamily="2" charset="-122"/>
              <a:ea typeface="宋体" pitchFamily="2" charset="-122"/>
              <a:sym typeface="+mn-ea"/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latin typeface="宋体" pitchFamily="2" charset="-122"/>
                <a:ea typeface="宋体" pitchFamily="2" charset="-122"/>
                <a:sym typeface="+mn-ea"/>
              </a:rPr>
              <a:t>Comparison (relational) operators: &gt;, &lt;, &lt;=, &gt;=</a:t>
            </a:r>
            <a:endParaRPr lang="zh-CN" altLang="en-US" sz="2400">
              <a:latin typeface="宋体" pitchFamily="2" charset="-122"/>
              <a:ea typeface="宋体" pitchFamily="2" charset="-122"/>
              <a:sym typeface="+mn-ea"/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latin typeface="宋体" pitchFamily="2" charset="-122"/>
                <a:ea typeface="宋体" pitchFamily="2" charset="-122"/>
                <a:sym typeface="+mn-ea"/>
              </a:rPr>
              <a:t>Assignment operators: +=, -=, =</a:t>
            </a:r>
            <a:endParaRPr lang="zh-CN" altLang="en-US" sz="2400">
              <a:latin typeface="宋体" pitchFamily="2" charset="-122"/>
              <a:ea typeface="宋体" pitchFamily="2" charset="-122"/>
              <a:sym typeface="+mn-ea"/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latin typeface="宋体" pitchFamily="2" charset="-122"/>
                <a:ea typeface="宋体" pitchFamily="2" charset="-122"/>
                <a:sym typeface="+mn-ea"/>
              </a:rPr>
              <a:t>Logical operators: and, or</a:t>
            </a:r>
            <a:endParaRPr lang="zh-CN" altLang="en-US" sz="2400">
              <a:latin typeface="宋体" pitchFamily="2" charset="-122"/>
              <a:ea typeface="宋体" pitchFamily="2" charset="-122"/>
              <a:sym typeface="+mn-ea"/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latin typeface="宋体" pitchFamily="2" charset="-122"/>
                <a:ea typeface="宋体" pitchFamily="2" charset="-122"/>
                <a:sym typeface="+mn-ea"/>
              </a:rPr>
              <a:t>Bitwise operators:</a:t>
            </a:r>
            <a:endParaRPr lang="zh-CN" altLang="en-US" sz="2400">
              <a:latin typeface="宋体" pitchFamily="2" charset="-122"/>
              <a:ea typeface="宋体" pitchFamily="2" charset="-122"/>
              <a:sym typeface="+mn-ea"/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latin typeface="宋体" pitchFamily="2" charset="-122"/>
                <a:ea typeface="宋体" pitchFamily="2" charset="-122"/>
                <a:sym typeface="+mn-ea"/>
              </a:rPr>
              <a:t>Membership operators: in, not in</a:t>
            </a:r>
            <a:endParaRPr lang="zh-CN" altLang="en-US" sz="2400">
              <a:latin typeface="宋体" pitchFamily="2" charset="-122"/>
              <a:ea typeface="宋体" pitchFamily="2" charset="-122"/>
              <a:sym typeface="+mn-ea"/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latin typeface="宋体" pitchFamily="2" charset="-122"/>
                <a:ea typeface="宋体" pitchFamily="2" charset="-122"/>
                <a:sym typeface="+mn-ea"/>
              </a:rPr>
              <a:t>Identity operators: is, is not</a:t>
            </a:r>
            <a:endParaRPr lang="zh-CN" altLang="en-US" sz="2400">
              <a:latin typeface="宋体" pitchFamily="2" charset="-122"/>
              <a:ea typeface="宋体" pitchFamily="2" charset="-122"/>
              <a:sym typeface="+mn-ea"/>
            </a:endParaRPr>
          </a:p>
          <a:p>
            <a:pPr lvl="2" indent="-285750">
              <a:buFont typeface="Arial" panose="020B0604020202090204" pitchFamily="34" charset="0"/>
              <a:buChar char="•"/>
            </a:pPr>
            <a:r>
              <a:rPr lang="zh-CN" altLang="en-US" sz="2400">
                <a:latin typeface="宋体" pitchFamily="2" charset="-122"/>
                <a:ea typeface="宋体" pitchFamily="2" charset="-122"/>
                <a:sym typeface="+mn-ea"/>
              </a:rPr>
              <a:t>Operator precedence</a:t>
            </a:r>
            <a:endParaRPr lang="zh-CN" altLang="en-US" sz="2400">
              <a:latin typeface="宋体" pitchFamily="2" charset="-122"/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107549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Arithmetic Operators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7690" y="1273175"/>
            <a:ext cx="10901680" cy="5584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 indent="-285750">
              <a:buFont typeface="Arial" panose="020B0604020202090204" pitchFamily="34" charset="0"/>
              <a:buChar char="•"/>
            </a:pPr>
            <a:r>
              <a:rPr lang="en-US" altLang="zh-CN" sz="2400">
                <a:latin typeface="宋体" pitchFamily="2" charset="-122"/>
                <a:ea typeface="宋体" pitchFamily="2" charset="-122"/>
                <a:sym typeface="+mn-ea"/>
              </a:rPr>
              <a:t>a = 10, b = 21</a:t>
            </a:r>
            <a:endParaRPr lang="en-US" altLang="zh-CN" sz="2400">
              <a:latin typeface="宋体" pitchFamily="2" charset="-122"/>
              <a:ea typeface="宋体" pitchFamily="2" charset="-122"/>
              <a:sym typeface="+mn-ea"/>
            </a:endParaRPr>
          </a:p>
          <a:p>
            <a:pPr marL="0" lvl="1" indent="-285750">
              <a:buFont typeface="Arial" panose="020B0604020202090204" pitchFamily="34" charset="0"/>
              <a:buChar char="•"/>
            </a:pPr>
            <a:endParaRPr lang="zh-CN" altLang="en-US" sz="2400">
              <a:latin typeface="宋体" pitchFamily="2" charset="-122"/>
              <a:ea typeface="宋体" pitchFamily="2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836930" y="1773555"/>
          <a:ext cx="10093325" cy="5034280"/>
        </p:xfrm>
        <a:graphic>
          <a:graphicData uri="http://schemas.openxmlformats.org/drawingml/2006/table">
            <a:tbl>
              <a:tblPr/>
              <a:tblGrid>
                <a:gridCol w="1723390"/>
                <a:gridCol w="5005705"/>
                <a:gridCol w="3364230"/>
              </a:tblGrid>
              <a:tr h="477520"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Operator</a:t>
                      </a:r>
                      <a:endParaRPr lang="zh-CN" altLang="en-US" sz="18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Description</a:t>
                      </a:r>
                      <a:endParaRPr lang="zh-CN" altLang="en-US" sz="18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Example</a:t>
                      </a:r>
                      <a:endParaRPr lang="zh-CN" altLang="en-US" sz="18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44450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+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Addition - add two objects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a + b outputs 31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5598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-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Subtraction - get a negative number or subtract one number from another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a - b outputs -11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5598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*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Multiplication - multiply two numbers or return a repeated string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a * b outputs 210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450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/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Division - x divided by y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b / a outputs 2.1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230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%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Modulo - returns the remainder of division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b % a outputs 1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120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**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Exponentiation - returns x to the power of y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a**b is 10 to the 21st power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230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//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Floor division - rounds down to an integer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9//2 = 4；-9//2 = -5</a:t>
                      </a:r>
                      <a:endParaRPr lang="en-US" altLang="zh-CN" sz="1800"/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107549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Comparison Operators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7690" y="1273175"/>
            <a:ext cx="10901680" cy="5584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 indent="-285750">
              <a:buFont typeface="Arial" panose="020B0604020202090204" pitchFamily="34" charset="0"/>
              <a:buChar char="•"/>
            </a:pPr>
            <a:r>
              <a:rPr lang="en-US" altLang="zh-CN" sz="2400">
                <a:latin typeface="宋体" pitchFamily="2" charset="-122"/>
                <a:ea typeface="宋体" pitchFamily="2" charset="-122"/>
                <a:sym typeface="+mn-ea"/>
              </a:rPr>
              <a:t>a = 10, b = 20</a:t>
            </a:r>
            <a:endParaRPr lang="en-US" altLang="zh-CN" sz="2400">
              <a:latin typeface="宋体" pitchFamily="2" charset="-122"/>
              <a:ea typeface="宋体" pitchFamily="2" charset="-122"/>
              <a:sym typeface="+mn-ea"/>
            </a:endParaRPr>
          </a:p>
          <a:p>
            <a:pPr marL="0" lvl="1" indent="-285750">
              <a:buFont typeface="Arial" panose="020B0604020202090204" pitchFamily="34" charset="0"/>
              <a:buChar char="•"/>
            </a:pPr>
            <a:endParaRPr lang="zh-CN" altLang="en-US" sz="2400">
              <a:latin typeface="宋体" pitchFamily="2" charset="-122"/>
              <a:ea typeface="宋体" pitchFamily="2" charset="-122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915" y="1669415"/>
            <a:ext cx="9716135" cy="5187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107549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Assignment Operators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7690" y="1273175"/>
            <a:ext cx="10901680" cy="5584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 indent="-285750">
              <a:buFont typeface="Arial" panose="020B0604020202090204" pitchFamily="34" charset="0"/>
              <a:buChar char="•"/>
            </a:pPr>
            <a:r>
              <a:rPr lang="en-US" altLang="zh-CN" sz="2400">
                <a:latin typeface="宋体" pitchFamily="2" charset="-122"/>
                <a:ea typeface="宋体" pitchFamily="2" charset="-122"/>
                <a:sym typeface="+mn-ea"/>
              </a:rPr>
              <a:t>a = 10, b = 20</a:t>
            </a:r>
            <a:endParaRPr lang="en-US" altLang="zh-CN" sz="2400">
              <a:latin typeface="宋体" pitchFamily="2" charset="-122"/>
              <a:ea typeface="宋体" pitchFamily="2" charset="-122"/>
              <a:sym typeface="+mn-ea"/>
            </a:endParaRPr>
          </a:p>
          <a:p>
            <a:pPr marL="0" lvl="1" indent="-285750">
              <a:buFont typeface="Arial" panose="020B0604020202090204" pitchFamily="34" charset="0"/>
              <a:buChar char="•"/>
            </a:pPr>
            <a:endParaRPr lang="zh-CN" altLang="en-US" sz="2400">
              <a:latin typeface="宋体" pitchFamily="2" charset="-122"/>
              <a:ea typeface="宋体" pitchFamily="2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701675" y="1899920"/>
          <a:ext cx="10877550" cy="4871720"/>
        </p:xfrm>
        <a:graphic>
          <a:graphicData uri="http://schemas.openxmlformats.org/drawingml/2006/table">
            <a:tbl>
              <a:tblPr/>
              <a:tblGrid>
                <a:gridCol w="1805305"/>
                <a:gridCol w="4476115"/>
                <a:gridCol w="4596130"/>
              </a:tblGrid>
              <a:tr h="477520"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Operator</a:t>
                      </a:r>
                      <a:endParaRPr lang="zh-CN" altLang="en-US" sz="18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Description</a:t>
                      </a:r>
                      <a:endParaRPr lang="zh-CN" altLang="en-US" sz="18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Example</a:t>
                      </a:r>
                      <a:endParaRPr lang="zh-CN" altLang="en-US" sz="18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71120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=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Simple assignment operator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c = a + b assigns the result of a + b to c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578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+=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Addition assignment operator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c += a is equivalent to c = c + a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6415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-=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Subtraction assignment operator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c -= a is equivalent to c = c - a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6415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*=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Multiplication assignment operator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c *= a is equivalent to c = c * a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578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/=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Division assignment operator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c /= a is equivalent to c = c / a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578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%=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Modulo assignment operator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c %= a is equivalent to c = c % a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705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**=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Exponentiation assignment operator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c **= a is equivalent to c = c ** a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578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//=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Floor-division assignment operator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c //= a is equivalent to c = c // a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107549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Logical Operators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7690" y="1273175"/>
            <a:ext cx="10901680" cy="5584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 indent="-285750">
              <a:buFont typeface="Arial" panose="020B0604020202090204" pitchFamily="34" charset="0"/>
              <a:buChar char="•"/>
            </a:pPr>
            <a:r>
              <a:rPr lang="en-US" altLang="zh-CN" sz="2400">
                <a:latin typeface="宋体" pitchFamily="2" charset="-122"/>
                <a:ea typeface="宋体" pitchFamily="2" charset="-122"/>
                <a:sym typeface="+mn-ea"/>
              </a:rPr>
              <a:t>a = 10, b = 20</a:t>
            </a:r>
            <a:endParaRPr lang="en-US" altLang="zh-CN" sz="2400">
              <a:latin typeface="宋体" pitchFamily="2" charset="-122"/>
              <a:ea typeface="宋体" pitchFamily="2" charset="-122"/>
              <a:sym typeface="+mn-ea"/>
            </a:endParaRPr>
          </a:p>
          <a:p>
            <a:pPr marL="0" lvl="1" indent="-285750">
              <a:buFont typeface="Arial" panose="020B0604020202090204" pitchFamily="34" charset="0"/>
              <a:buChar char="•"/>
            </a:pPr>
            <a:endParaRPr lang="zh-CN" altLang="en-US" sz="2400">
              <a:latin typeface="宋体" pitchFamily="2" charset="-122"/>
              <a:ea typeface="宋体" pitchFamily="2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853440" y="1955165"/>
          <a:ext cx="10485120" cy="3975100"/>
        </p:xfrm>
        <a:graphic>
          <a:graphicData uri="http://schemas.openxmlformats.org/drawingml/2006/table">
            <a:tbl>
              <a:tblPr/>
              <a:tblGrid>
                <a:gridCol w="1616710"/>
                <a:gridCol w="2713990"/>
                <a:gridCol w="3533140"/>
                <a:gridCol w="2621280"/>
              </a:tblGrid>
              <a:tr h="0"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Operator</a:t>
                      </a:r>
                      <a:endParaRPr lang="zh-CN" altLang="en-US" sz="20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Logical Expression</a:t>
                      </a:r>
                      <a:endParaRPr lang="zh-CN" altLang="en-US" sz="20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Description</a:t>
                      </a:r>
                      <a:endParaRPr lang="zh-CN" altLang="en-US" sz="20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Example</a:t>
                      </a:r>
                      <a:endParaRPr lang="zh-CN" altLang="en-US" sz="20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and</a:t>
                      </a:r>
                      <a:endParaRPr lang="en-US" altLang="zh-CN" sz="20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x and y</a:t>
                      </a:r>
                      <a:endParaRPr lang="en-US" altLang="zh-CN" sz="20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Boolean AND - if x is False, x and y returns x; otherwise it returns the evaluated value of y.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(a and b) returns 20.</a:t>
                      </a:r>
                      <a:endParaRPr lang="en-US" altLang="zh-CN" sz="20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or</a:t>
                      </a:r>
                      <a:endParaRPr lang="en-US" altLang="zh-CN" sz="20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x or y</a:t>
                      </a:r>
                      <a:endParaRPr lang="en-US" altLang="zh-CN" sz="20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Boolean OR - if x is True, it returns x; otherwise it returns the evaluated value of y.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(a or b) returns 10.</a:t>
                      </a:r>
                      <a:endParaRPr lang="en-US" altLang="zh-CN" sz="20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not</a:t>
                      </a:r>
                      <a:endParaRPr lang="en-US" altLang="zh-CN" sz="20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not x</a:t>
                      </a:r>
                      <a:endParaRPr lang="en-US" altLang="zh-CN" sz="20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Boolean NOT - if x is True, returns False. If x is False, returns True.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not(a and b) returns False</a:t>
                      </a:r>
                      <a:endParaRPr lang="en-US" altLang="zh-CN" sz="20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107549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Membership Operators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7690" y="1273175"/>
            <a:ext cx="10901680" cy="5584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>
              <a:buFont typeface="Arial" panose="020B0604020202090204" pitchFamily="34" charset="0"/>
            </a:pPr>
            <a:endParaRPr lang="zh-CN" altLang="en-US" sz="2400">
              <a:latin typeface="宋体" pitchFamily="2" charset="-122"/>
              <a:ea typeface="宋体" pitchFamily="2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567690" y="2116455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4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Operator</a:t>
                      </a:r>
                      <a:endParaRPr lang="zh-CN" altLang="en-US" sz="24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4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Description</a:t>
                      </a:r>
                      <a:endParaRPr lang="zh-CN" altLang="en-US" sz="24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p>
                      <a:pPr marL="0" indent="0"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400" b="0" i="0">
                          <a:solidFill>
                            <a:srgbClr val="FFFFFF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Example</a:t>
                      </a:r>
                      <a:endParaRPr lang="zh-CN" altLang="en-US" sz="2400" b="0" i="0">
                        <a:solidFill>
                          <a:srgbClr val="FFFFFF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25717" marR="25717" marT="101917" marB="1019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in</a:t>
                      </a:r>
                      <a:endParaRPr lang="en-US" altLang="zh-CN" sz="24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4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Returns True if the value is found in the specified sequence; otherwise returns False.</a:t>
                      </a:r>
                      <a:endParaRPr lang="zh-CN" altLang="en-US" sz="24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x in sequence y; if x is in</a:t>
                      </a:r>
                      <a:endParaRPr lang="zh-CN" altLang="en-US" sz="24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24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sequence y, returns True.</a:t>
                      </a:r>
                      <a:endParaRPr lang="zh-CN" altLang="en-US" sz="24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not in</a:t>
                      </a:r>
                      <a:endParaRPr lang="en-US" altLang="zh-CN" sz="24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4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Returns True if the value is not found in the specified sequence; otherwise returns False.</a:t>
                      </a:r>
                      <a:endParaRPr lang="zh-CN" altLang="en-US" sz="24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x not in sequence y; if x</a:t>
                      </a:r>
                      <a:endParaRPr lang="en-US" altLang="zh-CN" sz="24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24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  <a:p>
                      <a:pPr marL="0" indent="0" fontAlgn="t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4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is not in sequence y, returns True.</a:t>
                      </a:r>
                      <a:endParaRPr lang="zh-CN" altLang="en-US" sz="24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63817" marR="63817" marT="89217" marB="89217" anchor="t" anchorCtr="0">
                    <a:lnL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4D4D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107549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Operator Precedence (Commonly Used)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7690" y="1273175"/>
            <a:ext cx="10901680" cy="5584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>
              <a:buFont typeface="Arial" panose="020B0604020202090204" pitchFamily="34" charset="0"/>
            </a:pPr>
            <a:endParaRPr lang="zh-CN" altLang="en-US" sz="2000">
              <a:latin typeface="宋体" pitchFamily="2" charset="-122"/>
              <a:ea typeface="宋体" pitchFamily="2" charset="-122"/>
              <a:sym typeface="+mn-ea"/>
            </a:endParaRPr>
          </a:p>
          <a:p>
            <a:pPr marL="0" lvl="1">
              <a:buFont typeface="Arial" panose="020B0604020202090204" pitchFamily="34" charset="0"/>
            </a:pPr>
            <a:r>
              <a:rPr lang="zh-CN" altLang="en-US" sz="2000">
                <a:latin typeface="宋体" pitchFamily="2" charset="-122"/>
                <a:ea typeface="宋体" pitchFamily="2" charset="-122"/>
                <a:sym typeface="+mn-ea"/>
              </a:rPr>
              <a:t>Parenthesized expressions &gt; indexing, slicing, calls, attribute references &gt; exponentiation &gt; multiplication, matrix multiplication, division, floor division, remainder &gt; addition and subtraction &gt; comparisons &gt; logical NOT &gt; logical AND &gt; logical OR &gt; conditional expression (if-else) &gt; lambda expression &gt; assignment expression</a:t>
            </a:r>
            <a:endParaRPr lang="zh-CN" altLang="en-US" sz="2000">
              <a:latin typeface="宋体" pitchFamily="2" charset="-122"/>
              <a:ea typeface="宋体" pitchFamily="2" charset="-122"/>
              <a:sym typeface="+mn-ea"/>
            </a:endParaRPr>
          </a:p>
          <a:p>
            <a:pPr marL="0" lvl="1">
              <a:buFont typeface="Arial" panose="020B0604020202090204" pitchFamily="34" charset="0"/>
            </a:pPr>
            <a:endParaRPr lang="zh-CN" altLang="en-US" sz="2000">
              <a:latin typeface="宋体" pitchFamily="2" charset="-122"/>
              <a:ea typeface="宋体" pitchFamily="2" charset="-122"/>
              <a:sym typeface="+mn-ea"/>
            </a:endParaRPr>
          </a:p>
          <a:p>
            <a:pPr marL="0" lvl="1">
              <a:buFont typeface="Arial" panose="020B0604020202090204" pitchFamily="34" charset="0"/>
            </a:pPr>
            <a:r>
              <a:rPr lang="zh-CN" altLang="en-US" sz="2000">
                <a:latin typeface="宋体" pitchFamily="2" charset="-122"/>
                <a:ea typeface="宋体" pitchFamily="2" charset="-122"/>
                <a:sym typeface="+mn-ea"/>
              </a:rPr>
              <a:t>Example: x = True; y = False; z = False</a:t>
            </a:r>
            <a:endParaRPr lang="en-US" altLang="zh-CN" sz="2000">
              <a:latin typeface="宋体" pitchFamily="2" charset="-122"/>
              <a:ea typeface="宋体" pitchFamily="2" charset="-122"/>
              <a:sym typeface="+mn-ea"/>
            </a:endParaRPr>
          </a:p>
          <a:p>
            <a:pPr lvl="0" indent="457200">
              <a:buFont typeface="Arial" panose="020B0604020202090204" pitchFamily="34" charset="0"/>
            </a:pPr>
            <a:r>
              <a:rPr lang="en-US" altLang="zh-CN" sz="2000">
                <a:latin typeface="宋体" pitchFamily="2" charset="-122"/>
                <a:ea typeface="宋体" pitchFamily="2" charset="-122"/>
                <a:sym typeface="+mn-ea"/>
              </a:rPr>
              <a:t>if x or y and z:  </a:t>
            </a:r>
            <a:endParaRPr lang="en-US" altLang="zh-CN" sz="2000">
              <a:latin typeface="宋体" pitchFamily="2" charset="-122"/>
              <a:ea typeface="宋体" pitchFamily="2" charset="-122"/>
              <a:sym typeface="+mn-ea"/>
            </a:endParaRPr>
          </a:p>
          <a:p>
            <a:pPr lvl="0" indent="457200">
              <a:buFont typeface="Arial" panose="020B0604020202090204" pitchFamily="34" charset="0"/>
            </a:pPr>
            <a:r>
              <a:rPr lang="en-US" altLang="zh-CN" sz="2000">
                <a:latin typeface="宋体" pitchFamily="2" charset="-122"/>
                <a:ea typeface="宋体" pitchFamily="2" charset="-122"/>
                <a:sym typeface="+mn-ea"/>
              </a:rPr>
              <a:t>    print("yes") </a:t>
            </a:r>
            <a:endParaRPr lang="zh-CN" altLang="en-US" sz="2000">
              <a:latin typeface="宋体" pitchFamily="2" charset="-122"/>
              <a:ea typeface="宋体" pitchFamily="2" charset="-122"/>
              <a:sym typeface="+mn-ea"/>
            </a:endParaRPr>
          </a:p>
          <a:p>
            <a:pPr lvl="0" indent="457200">
              <a:buFont typeface="Arial" panose="020B0604020202090204" pitchFamily="34" charset="0"/>
            </a:pPr>
            <a:r>
              <a:rPr lang="en-US" altLang="zh-CN" sz="2000">
                <a:latin typeface="宋体" pitchFamily="2" charset="-122"/>
                <a:ea typeface="宋体" pitchFamily="2" charset="-122"/>
                <a:sym typeface="+mn-ea"/>
              </a:rPr>
              <a:t>else:</a:t>
            </a:r>
            <a:endParaRPr lang="en-US" altLang="zh-CN" sz="2000">
              <a:latin typeface="宋体" pitchFamily="2" charset="-122"/>
              <a:ea typeface="宋体" pitchFamily="2" charset="-122"/>
              <a:sym typeface="+mn-ea"/>
            </a:endParaRPr>
          </a:p>
          <a:p>
            <a:pPr lvl="0" indent="457200">
              <a:buFont typeface="Arial" panose="020B0604020202090204" pitchFamily="34" charset="0"/>
            </a:pPr>
            <a:r>
              <a:rPr lang="en-US" altLang="zh-CN" sz="2000">
                <a:latin typeface="宋体" pitchFamily="2" charset="-122"/>
                <a:ea typeface="宋体" pitchFamily="2" charset="-122"/>
                <a:sym typeface="+mn-ea"/>
              </a:rPr>
              <a:t>    print("no")</a:t>
            </a:r>
            <a:endParaRPr lang="en-US" altLang="zh-CN" sz="2000">
              <a:latin typeface="宋体" pitchFamily="2" charset="-122"/>
              <a:ea typeface="宋体" pitchFamily="2" charset="-122"/>
              <a:sym typeface="+mn-ea"/>
            </a:endParaRPr>
          </a:p>
          <a:p>
            <a:pPr lvl="0" indent="457200">
              <a:buFont typeface="Arial" panose="020B0604020202090204" pitchFamily="34" charset="0"/>
            </a:pPr>
            <a:endParaRPr lang="en-US" altLang="zh-CN" sz="2000">
              <a:latin typeface="宋体" pitchFamily="2" charset="-122"/>
              <a:ea typeface="宋体" pitchFamily="2" charset="-122"/>
              <a:sym typeface="+mn-ea"/>
            </a:endParaRPr>
          </a:p>
          <a:p>
            <a:pPr lvl="0" indent="457200">
              <a:buFont typeface="Arial" panose="020B0604020202090204" pitchFamily="34" charset="0"/>
            </a:pPr>
            <a:r>
              <a:rPr lang="en-US" altLang="zh-CN" sz="2000">
                <a:latin typeface="宋体" pitchFamily="2" charset="-122"/>
                <a:ea typeface="宋体" pitchFamily="2" charset="-122"/>
                <a:sym typeface="+mn-ea"/>
              </a:rPr>
              <a:t>if (x or y) and z:  </a:t>
            </a:r>
            <a:endParaRPr lang="zh-CN" altLang="en-US" sz="2000">
              <a:latin typeface="宋体" pitchFamily="2" charset="-122"/>
              <a:ea typeface="宋体" pitchFamily="2" charset="-122"/>
              <a:sym typeface="+mn-ea"/>
            </a:endParaRPr>
          </a:p>
          <a:p>
            <a:pPr lvl="0" indent="457200">
              <a:buFont typeface="Arial" panose="020B0604020202090204" pitchFamily="34" charset="0"/>
            </a:pPr>
            <a:r>
              <a:rPr lang="en-US" altLang="zh-CN" sz="2000">
                <a:latin typeface="宋体" pitchFamily="2" charset="-122"/>
                <a:ea typeface="宋体" pitchFamily="2" charset="-122"/>
                <a:sym typeface="+mn-ea"/>
              </a:rPr>
              <a:t>    print("yes") </a:t>
            </a:r>
            <a:endParaRPr lang="zh-CN" altLang="en-US" sz="2000">
              <a:latin typeface="宋体" pitchFamily="2" charset="-122"/>
              <a:ea typeface="宋体" pitchFamily="2" charset="-122"/>
              <a:sym typeface="+mn-ea"/>
            </a:endParaRPr>
          </a:p>
          <a:p>
            <a:pPr lvl="0" indent="457200">
              <a:buFont typeface="Arial" panose="020B0604020202090204" pitchFamily="34" charset="0"/>
            </a:pPr>
            <a:r>
              <a:rPr lang="en-US" altLang="zh-CN" sz="2000">
                <a:latin typeface="宋体" pitchFamily="2" charset="-122"/>
                <a:ea typeface="宋体" pitchFamily="2" charset="-122"/>
                <a:sym typeface="+mn-ea"/>
              </a:rPr>
              <a:t>else:</a:t>
            </a:r>
            <a:endParaRPr lang="en-US" altLang="zh-CN" sz="2000">
              <a:latin typeface="宋体" pitchFamily="2" charset="-122"/>
              <a:ea typeface="宋体" pitchFamily="2" charset="-122"/>
              <a:sym typeface="+mn-ea"/>
            </a:endParaRPr>
          </a:p>
          <a:p>
            <a:pPr lvl="0" indent="457200">
              <a:buFont typeface="Arial" panose="020B0604020202090204" pitchFamily="34" charset="0"/>
            </a:pPr>
            <a:r>
              <a:rPr lang="en-US" altLang="zh-CN" sz="2000">
                <a:latin typeface="宋体" pitchFamily="2" charset="-122"/>
                <a:ea typeface="宋体" pitchFamily="2" charset="-122"/>
                <a:sym typeface="+mn-ea"/>
              </a:rPr>
              <a:t>    print("no")  </a:t>
            </a:r>
            <a:endParaRPr lang="en-US" altLang="zh-CN" sz="2000">
              <a:latin typeface="宋体" pitchFamily="2" charset="-122"/>
              <a:ea typeface="宋体" pitchFamily="2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2965" y="3703320"/>
            <a:ext cx="6096000" cy="2590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044190" y="430530"/>
            <a:ext cx="575881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>
                <a:highlight>
                  <a:srgbClr val="FFFF00"/>
                </a:highlight>
              </a:rPr>
              <a:t>Some Common Beginner Mistakes</a:t>
            </a:r>
            <a:endParaRPr lang="en-US" altLang="zh-CN" sz="2800">
              <a:highlight>
                <a:srgbClr val="FFFF00"/>
              </a:highligh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8655" y="90043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Forgetting Quotation Marks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075" y="1299845"/>
            <a:ext cx="11696700" cy="609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0" y="1854835"/>
            <a:ext cx="11449050" cy="6667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35965" y="252158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Using = Instead of ==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2929890"/>
            <a:ext cx="11487150" cy="16954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35965" y="466534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Using Numerical Input Without Conversion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" y="5033645"/>
            <a:ext cx="10474325" cy="18027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7" grpId="0"/>
      <p:bldP spid="7" grpId="1"/>
      <p:bldP spid="9" grpId="0"/>
      <p:bldP spid="9" grpId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107549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en-US" altLang="zh-CN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A Simple Example - 1 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1590675"/>
            <a:ext cx="11506200" cy="3676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107549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90204" pitchFamily="34" charset="0"/>
            </a:pPr>
            <a:r>
              <a:rPr lang="en-US" altLang="zh-CN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A Simple Example - 2: Temperature Conversion Code Analysis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77863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2004695"/>
            <a:ext cx="6197600" cy="4241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31800" y="470535"/>
            <a:ext cx="575881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/>
              <a:t>A Quick Practice</a:t>
            </a:r>
            <a:endParaRPr lang="en-US" altLang="zh-CN" sz="2800"/>
          </a:p>
        </p:txBody>
      </p:sp>
      <p:sp>
        <p:nvSpPr>
          <p:cNvPr id="2" name="文本框 1"/>
          <p:cNvSpPr txBox="1"/>
          <p:nvPr/>
        </p:nvSpPr>
        <p:spPr>
          <a:xfrm>
            <a:off x="570230" y="1214120"/>
            <a:ext cx="927354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Try to write a short Python program that:</a:t>
            </a:r>
            <a:endParaRPr lang="en-US" altLang="zh-CN"/>
          </a:p>
          <a:p>
            <a:pPr indent="457200"/>
            <a:r>
              <a:rPr lang="en-US" altLang="zh-CN"/>
              <a:t>1. Asks the user to enter a name.</a:t>
            </a:r>
            <a:endParaRPr lang="en-US" altLang="zh-CN"/>
          </a:p>
          <a:p>
            <a:pPr indent="457200"/>
            <a:r>
              <a:rPr lang="en-US" altLang="zh-CN"/>
              <a:t>2. Asks the user to enter two numbers.</a:t>
            </a:r>
            <a:endParaRPr lang="en-US" altLang="zh-CN"/>
          </a:p>
          <a:p>
            <a:pPr indent="457200"/>
            <a:r>
              <a:rPr lang="en-US" altLang="zh-CN"/>
              <a:t>3. Calculates the sum and average of the two numbers.</a:t>
            </a:r>
            <a:endParaRPr lang="en-US" altLang="zh-CN"/>
          </a:p>
          <a:p>
            <a:pPr indent="457200"/>
            <a:r>
              <a:rPr lang="en-US" altLang="zh-CN"/>
              <a:t>4. Prints the name, sum, and average.</a:t>
            </a:r>
            <a:endParaRPr lang="en-US" altLang="zh-CN"/>
          </a:p>
          <a:p>
            <a:pPr indent="457200"/>
            <a:r>
              <a:rPr lang="en-US" altLang="zh-CN"/>
              <a:t>5. Checks whether the average is greater than or equal to 60.</a:t>
            </a:r>
            <a:endParaRPr lang="en-US" altLang="zh-CN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80" y="3146425"/>
            <a:ext cx="11468100" cy="2971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79755" y="1572260"/>
            <a:ext cx="11249025" cy="3056890"/>
          </a:xfrm>
          <a:prstGeom prst="rect">
            <a:avLst/>
          </a:prstGeom>
          <a:noFill/>
        </p:spPr>
        <p:txBody>
          <a:bodyPr wrap="square" rtlCol="0" anchor="t">
            <a:noAutofit/>
            <a:scene3d>
              <a:camera prst="orthographicFront"/>
              <a:lightRig rig="threePt" dir="t"/>
            </a:scene3d>
          </a:bodyPr>
          <a:p>
            <a:r>
              <a:rPr lang="en-US" altLang="zh-CN" sz="32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It is not necessary to memorize all the syntax immediately.</a:t>
            </a:r>
            <a:endParaRPr lang="en-US" altLang="zh-CN" sz="32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US" altLang="zh-CN" sz="32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endParaRPr lang="en-US" altLang="zh-CN" sz="32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US" altLang="zh-CN" sz="32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 main goal is to recognize these elements and</a:t>
            </a:r>
            <a:endParaRPr lang="en-US" altLang="zh-CN" sz="32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US" altLang="zh-CN" sz="32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become comfortable with reading and running simple Python programs.</a:t>
            </a:r>
            <a:endParaRPr lang="en-US" altLang="zh-CN" sz="32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792,&quot;width&quot;:4315.460120965462}"/>
</p:tagLst>
</file>

<file path=ppt/tags/tag2.xml><?xml version="1.0" encoding="utf-8"?>
<p:tagLst xmlns:p="http://schemas.openxmlformats.org/presentationml/2006/main">
  <p:tag name="KSO_WM_UNIT_PLACING_PICTURE_USER_VIEWPORT" val="{&quot;height&quot;:792,&quot;width&quot;:4315.460120965462}"/>
</p:tagLst>
</file>

<file path=ppt/tags/tag3.xml><?xml version="1.0" encoding="utf-8"?>
<p:tagLst xmlns:p="http://schemas.openxmlformats.org/presentationml/2006/main">
  <p:tag name="TABLE_ENDDRAG_ORIGIN_RECT" val="875*336"/>
  <p:tag name="TABLE_ENDDRAG_RECT" val="27*164*875*336"/>
</p:tagLst>
</file>

<file path=ppt/tags/tag4.xml><?xml version="1.0" encoding="utf-8"?>
<p:tagLst xmlns:p="http://schemas.openxmlformats.org/presentationml/2006/main">
  <p:tag name="TABLE_ENDDRAG_ORIGIN_RECT" val="794*376"/>
  <p:tag name="TABLE_ENDDRAG_RECT" val="65*139*794*376"/>
</p:tagLst>
</file>

<file path=ppt/tags/tag5.xml><?xml version="1.0" encoding="utf-8"?>
<p:tagLst xmlns:p="http://schemas.openxmlformats.org/presentationml/2006/main">
  <p:tag name="TABLE_ENDDRAG_ORIGIN_RECT" val="856*373"/>
  <p:tag name="TABLE_ENDDRAG_RECT" val="55*149*856*373"/>
</p:tagLst>
</file>

<file path=ppt/tags/tag6.xml><?xml version="1.0" encoding="utf-8"?>
<p:tagLst xmlns:p="http://schemas.openxmlformats.org/presentationml/2006/main">
  <p:tag name="commondata" val="eyJoZGlkIjoiMzZjMWIyODQ2OGIxNzQzMWJhOTRhMDhkNmY0ZjkyMjMifQ=="/>
</p:tagLst>
</file>

<file path=ppt/theme/theme1.xml><?xml version="1.0" encoding="utf-8"?>
<a:theme xmlns:a="http://schemas.openxmlformats.org/drawingml/2006/main" name="4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21732</Words>
  <Application>WPS 演示</Application>
  <PresentationFormat>自定义</PresentationFormat>
  <Paragraphs>1348</Paragraphs>
  <Slides>71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71</vt:i4>
      </vt:variant>
    </vt:vector>
  </HeadingPairs>
  <TitlesOfParts>
    <vt:vector size="98" baseType="lpstr">
      <vt:lpstr>Arial</vt:lpstr>
      <vt:lpstr>宋体</vt:lpstr>
      <vt:lpstr>Wingdings</vt:lpstr>
      <vt:lpstr>黑体</vt:lpstr>
      <vt:lpstr>汉仪中黑KW</vt:lpstr>
      <vt:lpstr>Arial Black</vt:lpstr>
      <vt:lpstr>等线</vt:lpstr>
      <vt:lpstr>汉仪中等线KW</vt:lpstr>
      <vt:lpstr>微软雅黑</vt:lpstr>
      <vt:lpstr>方正雅意黑 GB18030L2</vt:lpstr>
      <vt:lpstr>宋体</vt:lpstr>
      <vt:lpstr>Arial Unicode MS</vt:lpstr>
      <vt:lpstr>Times New Roman</vt:lpstr>
      <vt:lpstr>Century Gothic</vt:lpstr>
      <vt:lpstr>苹方-简</vt:lpstr>
      <vt:lpstr>汉仪书宋二KW</vt:lpstr>
      <vt:lpstr>Times New Roman Regular</vt:lpstr>
      <vt:lpstr>Helvetica Neue</vt:lpstr>
      <vt:lpstr>Calibri</vt:lpstr>
      <vt:lpstr>Helvetica Neue</vt:lpstr>
      <vt:lpstr>Wingdings</vt:lpstr>
      <vt:lpstr>微软雅黑</vt:lpstr>
      <vt:lpstr>等线</vt:lpstr>
      <vt:lpstr>黑体</vt:lpstr>
      <vt:lpstr>4_自定义设计方案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郭梦卓</cp:lastModifiedBy>
  <cp:revision>470</cp:revision>
  <dcterms:created xsi:type="dcterms:W3CDTF">2026-09-08T10:12:40Z</dcterms:created>
  <dcterms:modified xsi:type="dcterms:W3CDTF">2026-09-08T10:12:40Z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>98E5268573796189E4739568B70C1694_43</vt:lpwstr>
  </property>
</Properties>
</file>