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5"/>
  </p:handoutMasterIdLst>
  <p:sldIdLst>
    <p:sldId id="465" r:id="rId3"/>
    <p:sldId id="274" r:id="rId5"/>
    <p:sldId id="276" r:id="rId6"/>
    <p:sldId id="442" r:id="rId7"/>
    <p:sldId id="401" r:id="rId8"/>
    <p:sldId id="441" r:id="rId9"/>
    <p:sldId id="402" r:id="rId10"/>
    <p:sldId id="403" r:id="rId11"/>
    <p:sldId id="404" r:id="rId12"/>
    <p:sldId id="443" r:id="rId13"/>
    <p:sldId id="444" r:id="rId14"/>
    <p:sldId id="405" r:id="rId15"/>
    <p:sldId id="406" r:id="rId16"/>
    <p:sldId id="445" r:id="rId17"/>
    <p:sldId id="407" r:id="rId18"/>
    <p:sldId id="447" r:id="rId19"/>
    <p:sldId id="448" r:id="rId20"/>
    <p:sldId id="449" r:id="rId21"/>
    <p:sldId id="450" r:id="rId22"/>
    <p:sldId id="451" r:id="rId23"/>
    <p:sldId id="452" r:id="rId24"/>
    <p:sldId id="446" r:id="rId25"/>
    <p:sldId id="408" r:id="rId26"/>
    <p:sldId id="409" r:id="rId27"/>
    <p:sldId id="410" r:id="rId28"/>
    <p:sldId id="453" r:id="rId29"/>
    <p:sldId id="454" r:id="rId30"/>
    <p:sldId id="455" r:id="rId31"/>
    <p:sldId id="412" r:id="rId32"/>
    <p:sldId id="411" r:id="rId33"/>
    <p:sldId id="456" r:id="rId34"/>
    <p:sldId id="413" r:id="rId35"/>
    <p:sldId id="457" r:id="rId36"/>
    <p:sldId id="458" r:id="rId37"/>
    <p:sldId id="414" r:id="rId38"/>
    <p:sldId id="462" r:id="rId39"/>
    <p:sldId id="463" r:id="rId40"/>
    <p:sldId id="464" r:id="rId41"/>
    <p:sldId id="459" r:id="rId42"/>
    <p:sldId id="460" r:id="rId43"/>
    <p:sldId id="461" r:id="rId44"/>
  </p:sldIdLst>
  <p:sldSz cx="12192000" cy="6858000"/>
  <p:notesSz cx="7104380" cy="10234930"/>
  <p:custDataLst>
    <p:tags r:id="rId4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黑体" panose="0201060906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7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163" d="100"/>
          <a:sy n="163" d="100"/>
        </p:scale>
        <p:origin x="-432" y="-108"/>
      </p:cViewPr>
      <p:guideLst>
        <p:guide orient="horz" pos="2247"/>
        <p:guide pos="374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gs" Target="tags/tag7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Edit master text styles</a:t>
            </a:r>
            <a:endParaRPr lang="zh-CN" altLang="en-US"/>
          </a:p>
          <a:p>
            <a:pPr lvl="1"/>
            <a:r>
              <a:rPr lang="zh-CN" altLang="en-US"/>
              <a:t>Second level</a:t>
            </a:r>
            <a:endParaRPr lang="zh-CN" altLang="en-US"/>
          </a:p>
          <a:p>
            <a:pPr lvl="2"/>
            <a:r>
              <a:rPr lang="zh-CN" altLang="en-US"/>
              <a:t>Third level</a:t>
            </a:r>
            <a:endParaRPr lang="zh-CN" altLang="en-US"/>
          </a:p>
          <a:p>
            <a:pPr lvl="3"/>
            <a:r>
              <a:rPr lang="zh-CN" altLang="en-US"/>
              <a:t>Fourth level</a:t>
            </a:r>
            <a:endParaRPr lang="zh-CN" altLang="en-US"/>
          </a:p>
          <a:p>
            <a:pPr lvl="4"/>
            <a:r>
              <a:rPr lang="zh-CN" altLang="en-US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Ask students to</a:t>
            </a:r>
            <a:r>
              <a:rPr lang="zh-CN" altLang="en-US"/>
              <a:t>think about this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From the result, we can see that because the variable</a:t>
            </a:r>
            <a:r>
              <a:rPr lang="en-US" altLang="zh-CN"/>
              <a:t> var2 </a:t>
            </a:r>
            <a:r>
              <a:rPr lang="zh-CN" altLang="en-US"/>
              <a:t>is</a:t>
            </a:r>
            <a:r>
              <a:rPr lang="en-US" altLang="zh-CN"/>
              <a:t> 0</a:t>
            </a:r>
            <a:r>
              <a:rPr lang="zh-CN" altLang="en-US"/>
              <a:t>, so the corresponding</a:t>
            </a:r>
            <a:r>
              <a:rPr lang="en-US" altLang="zh-CN"/>
              <a:t> if </a:t>
            </a:r>
            <a:r>
              <a:rPr lang="zh-CN" altLang="en-US"/>
              <a:t>block statements were not executed.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pn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  <p:pic>
        <p:nvPicPr>
          <p:cNvPr id="1029" name="图片 1" descr="图片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图片 7" descr="微信图片_20241016164137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250" y="112713"/>
            <a:ext cx="3494088" cy="2825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1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75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74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73.png"/><Relationship Id="rId13" Type="http://schemas.openxmlformats.org/officeDocument/2006/relationships/notesSlide" Target="../notesSlides/notesSlide29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76.png"/><Relationship Id="rId10" Type="http://schemas.openxmlformats.org/officeDocument/2006/relationships/tags" Target="../tags/tag6.xml"/><Relationship Id="rId1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4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8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6147" name="组合 5"/>
          <p:cNvGrpSpPr/>
          <p:nvPr/>
        </p:nvGrpSpPr>
        <p:grpSpPr>
          <a:xfrm>
            <a:off x="-39052" y="-28575"/>
            <a:ext cx="12231052" cy="6886575"/>
            <a:chOff x="6964" y="0"/>
            <a:chExt cx="12192513" cy="6886575"/>
          </a:xfrm>
        </p:grpSpPr>
        <p:sp>
          <p:nvSpPr>
            <p:cNvPr id="4" name="矩形 3"/>
            <p:cNvSpPr/>
            <p:nvPr/>
          </p:nvSpPr>
          <p:spPr>
            <a:xfrm>
              <a:off x="6964" y="0"/>
              <a:ext cx="12192001" cy="6845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r>
                <a:rPr lang="en-US" altLang="zh-CN" sz="4000" u="sng" dirty="0">
                  <a:solidFill>
                    <a:srgbClr val="0000FF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Fundamentals of Programming</a:t>
              </a:r>
              <a:endParaRPr lang="en-US" altLang="zh-CN" sz="4000" u="sng" dirty="0">
                <a:solidFill>
                  <a:srgbClr val="0000FF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  <a:p>
              <a:pPr algn="ctr" fontAlgn="auto"/>
              <a:r>
                <a:rPr lang="en-US" altLang="zh-CN" sz="2400" strike="noStrike" noProof="1" dirty="0">
                  <a:solidFill>
                    <a:schemeClr val="tx1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Mengzhuo Guo</a:t>
              </a:r>
              <a:endParaRPr lang="en-US" altLang="zh-CN" sz="2400" strike="noStrike" noProof="1" dirty="0">
                <a:solidFill>
                  <a:schemeClr val="tx1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  <a:p>
              <a:pPr algn="ctr" fontAlgn="auto"/>
              <a:r>
                <a:rPr lang="en-US" altLang="zh-CN" sz="2400" strike="noStrike" noProof="1" dirty="0">
                  <a:solidFill>
                    <a:schemeClr val="tx1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 mengzhguo@scu.edu.cn</a:t>
              </a:r>
              <a:endParaRPr lang="zh-CN" altLang="en-US" sz="2400" strike="noStrike" noProof="1" dirty="0">
                <a:solidFill>
                  <a:schemeClr val="tx1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  <a:p>
              <a:pPr algn="ctr" fontAlgn="auto"/>
              <a:r>
                <a:rPr lang="en-US" altLang="zh-CN" sz="2400" strike="noStrike" noProof="1" dirty="0">
                  <a:solidFill>
                    <a:schemeClr val="tx1"/>
                  </a:solidFill>
                  <a:latin typeface="Arial Black" panose="020B0A04020102020204" charset="0"/>
                  <a:ea typeface="等线" panose="02010600030101010101" pitchFamily="2" charset="-122"/>
                  <a:sym typeface="+mn-ea"/>
                </a:rPr>
                <a:t>Business School, Sichuan University</a:t>
              </a:r>
              <a:endParaRPr lang="en-US" altLang="zh-CN" sz="2400" strike="noStrike" noProof="1" dirty="0">
                <a:solidFill>
                  <a:schemeClr val="tx1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endParaRPr>
            </a:p>
          </p:txBody>
        </p:sp>
        <p:pic>
          <p:nvPicPr>
            <p:cNvPr id="6149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95" y="4065270"/>
              <a:ext cx="12191882" cy="2821305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3" name="图片 7" descr="微信图片_20241016164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12713"/>
            <a:ext cx="3494088" cy="28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61060" y="2223770"/>
            <a:ext cx="105283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auto"/>
            <a:r>
              <a:rPr lang="en-US" altLang="zh-CN" sz="5400" u="sng" dirty="0">
                <a:solidFill>
                  <a:srgbClr val="0000FF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S3. </a:t>
            </a:r>
            <a:r>
              <a:rPr lang="zh-CN" altLang="en-US" sz="5400" u="sng" dirty="0">
                <a:solidFill>
                  <a:srgbClr val="0000FF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 </a:t>
            </a:r>
            <a:r>
              <a:rPr lang="zh-CN" altLang="en-US" sz="5400" u="sng" dirty="0">
                <a:solidFill>
                  <a:srgbClr val="0000FF"/>
                </a:solidFill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Control</a:t>
            </a:r>
            <a:endParaRPr lang="en-US" altLang="zh-CN" sz="5400" u="sng" dirty="0">
              <a:solidFill>
                <a:srgbClr val="0000FF"/>
              </a:solidFill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 algn="ctr" fontAlgn="auto"/>
            <a:endParaRPr lang="en-US" altLang="zh-CN" sz="5400" u="sng" dirty="0">
              <a:solidFill>
                <a:srgbClr val="0000FF"/>
              </a:solidFill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740025" y="1609090"/>
            <a:ext cx="6096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buFontTx/>
              <a:buChar char="•"/>
            </a:pPr>
            <a:r>
              <a:rPr lang="zh-CN" altLang="en-US" sz="2800">
                <a:ea typeface="宋体" panose="02010600030101010101" pitchFamily="2" charset="-122"/>
                <a:sym typeface="+mn-ea"/>
              </a:rPr>
              <a:t>Key Points:</a:t>
            </a:r>
            <a:endParaRPr lang="zh-CN" altLang="en-US" sz="2800">
              <a:ea typeface="宋体" panose="02010600030101010101" pitchFamily="2" charset="-122"/>
            </a:endParaRPr>
          </a:p>
          <a:p>
            <a:pPr marL="800100" lvl="1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ea typeface="宋体" panose="02010600030101010101" pitchFamily="2" charset="-122"/>
                <a:sym typeface="+mn-ea"/>
              </a:rPr>
              <a:t>3.1 </a:t>
            </a:r>
            <a:r>
              <a:rPr lang="zh-CN" altLang="en-US" sz="2800" b="1" dirty="0">
                <a:ea typeface="宋体" panose="02010600030101010101" pitchFamily="2" charset="-122"/>
                <a:sym typeface="+mn-ea"/>
              </a:rPr>
              <a:t>Program Flow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marL="800100" lvl="1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ea typeface="宋体" panose="02010600030101010101" pitchFamily="2" charset="-122"/>
                <a:sym typeface="+mn-ea"/>
              </a:rPr>
              <a:t>3.2 </a:t>
            </a:r>
            <a:r>
              <a:rPr lang="zh-CN" altLang="en-US" sz="2800" b="1" dirty="0">
                <a:ea typeface="宋体" panose="02010600030101010101" pitchFamily="2" charset="-122"/>
                <a:sym typeface="+mn-ea"/>
              </a:rPr>
              <a:t>Sequential Structure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marL="800100" lvl="1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ea typeface="宋体" panose="02010600030101010101" pitchFamily="2" charset="-122"/>
                <a:sym typeface="+mn-ea"/>
              </a:rPr>
              <a:t>3.3 </a:t>
            </a:r>
            <a:r>
              <a:rPr lang="zh-CN" altLang="en-US" sz="2800" b="1" dirty="0">
                <a:ea typeface="宋体" panose="02010600030101010101" pitchFamily="2" charset="-122"/>
                <a:sym typeface="+mn-ea"/>
              </a:rPr>
              <a:t>Selection Structure</a:t>
            </a:r>
            <a:endParaRPr lang="zh-CN" altLang="en-US" sz="2800" b="1" dirty="0">
              <a:ea typeface="宋体" panose="02010600030101010101" pitchFamily="2" charset="-122"/>
            </a:endParaRPr>
          </a:p>
          <a:p>
            <a:pPr marL="800100" lvl="1" indent="-342900" algn="l" eaLnBrk="1" fontAlgn="auto" hangingPunct="1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800" b="1" dirty="0">
                <a:ea typeface="宋体" panose="02010600030101010101" pitchFamily="2" charset="-122"/>
                <a:sym typeface="+mn-ea"/>
              </a:rPr>
              <a:t>3.4 </a:t>
            </a:r>
            <a:r>
              <a:rPr lang="zh-CN" altLang="en-US" sz="2800" b="1" dirty="0">
                <a:ea typeface="宋体" panose="02010600030101010101" pitchFamily="2" charset="-122"/>
                <a:sym typeface="+mn-ea"/>
              </a:rPr>
              <a:t>Repetition Structure</a:t>
            </a:r>
            <a:endParaRPr lang="zh-CN" altLang="en-US" sz="2800" b="1"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 (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)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115" y="1270635"/>
            <a:ext cx="11652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u="sng"/>
              <a:t>Program flow</a:t>
            </a:r>
            <a:r>
              <a:rPr lang="en-US" altLang="zh-CN" sz="2400"/>
              <a:t> describes the order in which the statements in a program are executed.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" y="2431415"/>
            <a:ext cx="10782300" cy="927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" y="3480435"/>
            <a:ext cx="5086350" cy="1638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5118735"/>
            <a:ext cx="1083945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 (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)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115" y="1270635"/>
            <a:ext cx="110953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u="sng"/>
              <a:t>Three Basic Control Structures </a:t>
            </a:r>
            <a:r>
              <a:rPr lang="zh-CN" altLang="en-US" sz="2400" u="sng"/>
              <a:t>(three structures)</a:t>
            </a:r>
            <a:endParaRPr lang="en-US" altLang="zh-CN" sz="2400"/>
          </a:p>
        </p:txBody>
      </p:sp>
      <p:sp>
        <p:nvSpPr>
          <p:cNvPr id="9" name="文本框 8"/>
          <p:cNvSpPr txBox="1"/>
          <p:nvPr/>
        </p:nvSpPr>
        <p:spPr>
          <a:xfrm>
            <a:off x="1306195" y="1976120"/>
            <a:ext cx="81159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1. Sequential structure</a:t>
            </a:r>
            <a:endParaRPr lang="en-US" altLang="zh-CN"/>
          </a:p>
          <a:p>
            <a:r>
              <a:rPr lang="en-US" altLang="zh-CN"/>
              <a:t>Statements are executed one after another, from top to bottom.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06195" y="2770505"/>
            <a:ext cx="83845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2. Selection structure</a:t>
            </a:r>
            <a:endParaRPr lang="en-US" altLang="zh-CN"/>
          </a:p>
          <a:p>
            <a:r>
              <a:rPr lang="en-US" altLang="zh-CN"/>
              <a:t>The program chooses one or more paths according to a condition.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06195" y="3686175"/>
            <a:ext cx="92964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3. Repetition structure</a:t>
            </a:r>
            <a:endParaRPr lang="en-US" altLang="zh-CN"/>
          </a:p>
          <a:p>
            <a:r>
              <a:rPr lang="en-US" altLang="zh-CN"/>
              <a:t>The program repeats a group of statements while a condition is true or for a specified number of times.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490" y="4918710"/>
            <a:ext cx="10775950" cy="127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92710" y="631190"/>
            <a:ext cx="803529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Flowchart (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Flowcharts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)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5005" y="1328420"/>
            <a:ext cx="10548620" cy="4373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Input Data</a:t>
            </a:r>
            <a:r>
              <a:rPr lang="en-US" altLang="zh-CN" sz="2400">
                <a:solidFill>
                  <a:schemeClr val="tx1"/>
                </a:solidFill>
              </a:rPr>
              <a:t>:</a:t>
            </a:r>
            <a:r>
              <a:rPr lang="zh-CN" altLang="en-US" sz="2400" dirty="0">
                <a:cs typeface="Times New Roman" panose="02020603050405020304" charset="0"/>
                <a:sym typeface="+mn-ea"/>
              </a:rPr>
              <a:t>Input starts a program. Data may come from many sources, including interactive input, parameters, random data, files, and networks.</a:t>
            </a:r>
            <a:endParaRPr lang="zh-CN" altLang="en-US" sz="2400" dirty="0">
              <a:cs typeface="Times New Roman" panose="020206030504050203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charset="0"/>
                <a:sym typeface="+mn-ea"/>
              </a:rPr>
              <a:t>Process Data</a:t>
            </a:r>
            <a:r>
              <a:rPr lang="en-US" altLang="zh-CN" sz="2400" dirty="0">
                <a:cs typeface="Times New Roman" panose="02020603050405020304" charset="0"/>
                <a:sym typeface="+mn-ea"/>
              </a:rPr>
              <a:t>:</a:t>
            </a:r>
            <a:r>
              <a:rPr lang="zh-CN" altLang="en-US" sz="2400" dirty="0">
                <a:cs typeface="Times New Roman" panose="02020603050405020304" charset="0"/>
                <a:sym typeface="+mn-ea"/>
              </a:rPr>
              <a:t>Processing calculates from input data to produce output. A method for solving a computing problem is called an algorithm.</a:t>
            </a:r>
            <a:endParaRPr lang="zh-CN" altLang="en-US" sz="2400" dirty="0">
              <a:cs typeface="Times New Roman" panose="02020603050405020304" charset="0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charset="0"/>
                <a:sym typeface="+mn-ea"/>
              </a:rPr>
              <a:t>Output Results</a:t>
            </a:r>
            <a:r>
              <a:rPr lang="en-US" altLang="zh-CN" sz="2400" dirty="0">
                <a:cs typeface="Times New Roman" panose="02020603050405020304" charset="0"/>
                <a:sym typeface="+mn-ea"/>
              </a:rPr>
              <a:t>:</a:t>
            </a:r>
            <a:r>
              <a:rPr lang="zh-CN" altLang="en-US" sz="2400" dirty="0">
                <a:cs typeface="Times New Roman" panose="02020603050405020304" charset="0"/>
                <a:sym typeface="+mn-ea"/>
              </a:rPr>
              <a:t>Output presents program results through the console, graphics, files, networks, and other channels.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6388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020" y="432435"/>
            <a:ext cx="492506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1054862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Core concept: algorithm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sym typeface="+mn-ea"/>
              </a:rPr>
              <a:t>An algorithm is a method for performing a specific task.</a:t>
            </a:r>
            <a:endParaRPr lang="zh-CN" altLang="zh-CN" sz="2400" dirty="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sym typeface="+mn-ea"/>
              </a:rPr>
              <a:t>Describe an algorithm: natural language &amp; pseudocode -&gt; implement it (coding)</a:t>
            </a:r>
            <a:endParaRPr lang="en-US" altLang="zh-CN" sz="2400" dirty="0">
              <a:sym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GCD</a:t>
            </a:r>
            <a:endParaRPr lang="zh-CN" altLang="en-US" sz="2400" dirty="0">
              <a:sym typeface="+mn-ea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rcRect r="4735"/>
          <a:stretch>
            <a:fillRect/>
          </a:stretch>
        </p:blipFill>
        <p:spPr>
          <a:xfrm>
            <a:off x="333375" y="3429000"/>
            <a:ext cx="11855450" cy="2186305"/>
          </a:xfrm>
          <a:prstGeom prst="rect">
            <a:avLst/>
          </a:prstGeom>
        </p:spPr>
      </p:pic>
      <p:pic>
        <p:nvPicPr>
          <p:cNvPr id="17413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030" y="3265170"/>
            <a:ext cx="8604885" cy="3592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1054862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Given GCD pseudocode, we can write Python code</a:t>
            </a:r>
            <a:endParaRPr lang="zh-CN" altLang="en-US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2508" y="1994535"/>
            <a:ext cx="10585450" cy="4524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p>
            <a:pPr>
              <a:defRPr/>
            </a:pPr>
            <a:r>
              <a:rPr lang="en-US" altLang="zh-CN" sz="2400" b="1" dirty="0"/>
              <a:t># GCD of m and n
GCD(m, n) = GCD(n, m Mod n)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def </a:t>
            </a:r>
            <a:r>
              <a:rPr lang="en-US" altLang="zh-CN" sz="2400" b="1" dirty="0" err="1"/>
              <a:t>gcd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m,n</a:t>
            </a:r>
            <a:r>
              <a:rPr lang="en-US" altLang="zh-CN" sz="2400" b="1" dirty="0"/>
              <a:t>):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if (m &lt; n):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    m, n = n, m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while (n != 0):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    remainder = m % n    # remainder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    m = n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    n = remainder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return m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if __name__ == '__main__':</a:t>
            </a:r>
            <a:endParaRPr lang="zh-CN" altLang="zh-CN" sz="2400" b="1" dirty="0"/>
          </a:p>
          <a:p>
            <a:pPr>
              <a:defRPr/>
            </a:pPr>
            <a:r>
              <a:rPr lang="en-US" altLang="zh-CN" sz="2400" b="1" dirty="0"/>
              <a:t>    print(24,36,"GCD:",gcd(24,36))</a:t>
            </a:r>
            <a:endParaRPr lang="zh-CN" altLang="zh-CN" sz="2400" b="1" dirty="0"/>
          </a:p>
          <a:p>
            <a:pPr>
              <a:defRPr/>
            </a:pPr>
            <a:endParaRPr lang="zh-CN" altLang="en-US" sz="2400" b="1" dirty="0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5054600" y="4521835"/>
            <a:ext cx="2798445" cy="928370"/>
          </a:xfrm>
          <a:prstGeom prst="straightConnector1">
            <a:avLst/>
          </a:prstGeom>
          <a:ln w="38100">
            <a:solidFill>
              <a:srgbClr val="FF33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958455" y="4309745"/>
            <a:ext cx="3148330" cy="1010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Run the code in a separate .py file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690245" y="2849245"/>
            <a:ext cx="0" cy="2847975"/>
          </a:xfrm>
          <a:prstGeom prst="straightConnector1">
            <a:avLst/>
          </a:prstGeom>
          <a:ln w="38100">
            <a:solidFill>
              <a:srgbClr val="FF33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9380" y="408876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Seq.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104265" y="2805430"/>
            <a:ext cx="5255260" cy="21393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54600" y="2849245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Decision block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231265" y="3507740"/>
            <a:ext cx="6096000" cy="143764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196330" y="3507740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Loop block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/>
      <p:bldP spid="5" grpId="1"/>
      <p:bldP spid="9" grpId="0"/>
      <p:bldP spid="9" grpId="1"/>
      <p:bldP spid="10" grpId="0" animBg="1"/>
      <p:bldP spid="10" grpId="1" animBg="1"/>
      <p:bldP spid="11" grpId="0"/>
      <p:bldP spid="11" grpId="1"/>
      <p:bldP spid="12" grpId="0" bldLvl="0" animBg="1"/>
      <p:bldP spid="12" grpId="1" animBg="1"/>
      <p:bldP spid="13" grpId="0"/>
      <p:bldP spid="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Program Flow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1054862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Program Flowchart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400" dirty="0">
                <a:sym typeface="+mn-ea"/>
              </a:rPr>
              <a:t>a graphical representation of the steps in program execution</a:t>
            </a:r>
            <a:endParaRPr lang="en-US" altLang="zh-C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conventions</a:t>
            </a:r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1946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390" y="2673350"/>
            <a:ext cx="8137525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499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Flowchart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-- A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Sequential Flowchart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73175"/>
            <a:ext cx="7567930" cy="18484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440" y="824230"/>
            <a:ext cx="3285490" cy="46151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55" y="3241675"/>
            <a:ext cx="6217920" cy="1182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0499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Flowchart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-- A Selection Flowchart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273175"/>
            <a:ext cx="7567930" cy="18484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975" y="2659380"/>
            <a:ext cx="5323840" cy="41630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-209" r="51004"/>
          <a:stretch>
            <a:fillRect/>
          </a:stretch>
        </p:blipFill>
        <p:spPr>
          <a:xfrm>
            <a:off x="539115" y="3698240"/>
            <a:ext cx="5227955" cy="2373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1054862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Program Flowchart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GCD as an example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Start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Decision</a:t>
            </a:r>
            <a:endParaRPr lang="zh-CN" altLang="en-US" sz="2400">
              <a:solidFill>
                <a:schemeClr val="tx1"/>
              </a:solidFill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Condition true?</a:t>
            </a:r>
            <a:endParaRPr lang="en-US" altLang="zh-CN" sz="2400">
              <a:solidFill>
                <a:schemeClr val="tx1"/>
              </a:solidFill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Execute an operation</a:t>
            </a:r>
            <a:endParaRPr lang="en-US" altLang="zh-CN" sz="2400">
              <a:solidFill>
                <a:schemeClr val="tx1"/>
              </a:solidFill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Condition false?</a:t>
            </a:r>
            <a:endParaRPr lang="en-US" altLang="zh-CN" sz="2400">
              <a:solidFill>
                <a:schemeClr val="tx1"/>
              </a:solidFill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Execute another operation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Loop</a:t>
            </a:r>
            <a:endParaRPr lang="zh-CN" altLang="en-US" sz="2400">
              <a:solidFill>
                <a:schemeClr val="tx1"/>
              </a:solidFill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Loop-exit criterion</a:t>
            </a:r>
            <a:endParaRPr lang="zh-CN" altLang="en-US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End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7240905" y="359410"/>
            <a:ext cx="2141220" cy="4705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Program starts</a:t>
            </a:r>
            <a:endParaRPr lang="zh-CN" altLang="en-US"/>
          </a:p>
        </p:txBody>
      </p:sp>
      <p:sp>
        <p:nvSpPr>
          <p:cNvPr id="5" name="菱形 4"/>
          <p:cNvSpPr/>
          <p:nvPr/>
        </p:nvSpPr>
        <p:spPr>
          <a:xfrm>
            <a:off x="7284720" y="2228850"/>
            <a:ext cx="2080895" cy="434975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m&lt;n?</a:t>
            </a:r>
            <a:endParaRPr lang="en-US" altLang="zh-CN"/>
          </a:p>
        </p:txBody>
      </p:sp>
      <p:sp>
        <p:nvSpPr>
          <p:cNvPr id="8" name="平行四边形 7"/>
          <p:cNvSpPr/>
          <p:nvPr/>
        </p:nvSpPr>
        <p:spPr>
          <a:xfrm>
            <a:off x="7230110" y="1135380"/>
            <a:ext cx="2174875" cy="63500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Input m, n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9713595" y="2239645"/>
            <a:ext cx="1940560" cy="447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m=n, n=m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7357110" y="3045460"/>
            <a:ext cx="1941195" cy="447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 dirty="0">
                <a:sym typeface="+mn-ea"/>
              </a:rPr>
              <a:t>remainder = </a:t>
            </a:r>
            <a:endParaRPr lang="en-US" altLang="zh-CN" b="1" dirty="0">
              <a:sym typeface="+mn-ea"/>
            </a:endParaRPr>
          </a:p>
          <a:p>
            <a:pPr algn="ctr"/>
            <a:r>
              <a:rPr lang="en-US" altLang="zh-CN" b="1" dirty="0">
                <a:sym typeface="+mn-ea"/>
              </a:rPr>
              <a:t>m % n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357110" y="3738880"/>
            <a:ext cx="1941195" cy="447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Set m = n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7357110" y="4432300"/>
            <a:ext cx="1940560" cy="4470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Set n = remainder</a:t>
            </a:r>
            <a:endParaRPr lang="en-US" altLang="zh-CN"/>
          </a:p>
        </p:txBody>
      </p:sp>
      <p:sp>
        <p:nvSpPr>
          <p:cNvPr id="13" name="菱形 12"/>
          <p:cNvSpPr/>
          <p:nvPr/>
        </p:nvSpPr>
        <p:spPr>
          <a:xfrm>
            <a:off x="7278370" y="5137150"/>
            <a:ext cx="2080895" cy="434975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n=0?</a:t>
            </a:r>
            <a:endParaRPr lang="en-US" altLang="zh-CN"/>
          </a:p>
        </p:txBody>
      </p:sp>
      <p:cxnSp>
        <p:nvCxnSpPr>
          <p:cNvPr id="14" name="直接箭头连接符 13"/>
          <p:cNvCxnSpPr>
            <a:stCxn id="2" idx="2"/>
            <a:endCxn id="8" idx="0"/>
          </p:cNvCxnSpPr>
          <p:nvPr/>
        </p:nvCxnSpPr>
        <p:spPr>
          <a:xfrm>
            <a:off x="8311515" y="829945"/>
            <a:ext cx="6350" cy="3054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4"/>
            <a:endCxn id="5" idx="0"/>
          </p:cNvCxnSpPr>
          <p:nvPr/>
        </p:nvCxnSpPr>
        <p:spPr>
          <a:xfrm>
            <a:off x="8317865" y="1770380"/>
            <a:ext cx="7620" cy="4584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9" idx="1"/>
          </p:cNvCxnSpPr>
          <p:nvPr/>
        </p:nvCxnSpPr>
        <p:spPr>
          <a:xfrm>
            <a:off x="9365615" y="2446655"/>
            <a:ext cx="347980" cy="165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5" idx="2"/>
            <a:endCxn id="10" idx="0"/>
          </p:cNvCxnSpPr>
          <p:nvPr/>
        </p:nvCxnSpPr>
        <p:spPr>
          <a:xfrm>
            <a:off x="8325485" y="2663825"/>
            <a:ext cx="2540" cy="3816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0" idx="2"/>
            <a:endCxn id="11" idx="0"/>
          </p:cNvCxnSpPr>
          <p:nvPr/>
        </p:nvCxnSpPr>
        <p:spPr>
          <a:xfrm>
            <a:off x="8328025" y="3492500"/>
            <a:ext cx="0" cy="2463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1" idx="2"/>
            <a:endCxn id="12" idx="0"/>
          </p:cNvCxnSpPr>
          <p:nvPr/>
        </p:nvCxnSpPr>
        <p:spPr>
          <a:xfrm flipH="1">
            <a:off x="8327390" y="4185920"/>
            <a:ext cx="635" cy="2463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2" idx="2"/>
            <a:endCxn id="13" idx="0"/>
          </p:cNvCxnSpPr>
          <p:nvPr/>
        </p:nvCxnSpPr>
        <p:spPr>
          <a:xfrm flipH="1">
            <a:off x="8319135" y="4879340"/>
            <a:ext cx="8255" cy="2578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平行四边形 20"/>
          <p:cNvSpPr/>
          <p:nvPr/>
        </p:nvSpPr>
        <p:spPr>
          <a:xfrm>
            <a:off x="7240905" y="5830570"/>
            <a:ext cx="2174875" cy="635000"/>
          </a:xfrm>
          <a:prstGeom prst="parallelogram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Output m</a:t>
            </a:r>
            <a:endParaRPr lang="en-US" altLang="zh-CN"/>
          </a:p>
        </p:txBody>
      </p:sp>
      <p:sp>
        <p:nvSpPr>
          <p:cNvPr id="22" name="圆角矩形 21"/>
          <p:cNvSpPr/>
          <p:nvPr/>
        </p:nvSpPr>
        <p:spPr>
          <a:xfrm>
            <a:off x="9895840" y="5916930"/>
            <a:ext cx="2141220" cy="4705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Program ends</a:t>
            </a:r>
            <a:endParaRPr lang="zh-CN" altLang="en-US"/>
          </a:p>
        </p:txBody>
      </p:sp>
      <p:cxnSp>
        <p:nvCxnSpPr>
          <p:cNvPr id="23" name="肘形连接符 22"/>
          <p:cNvCxnSpPr>
            <a:stCxn id="9" idx="2"/>
            <a:endCxn id="10" idx="3"/>
          </p:cNvCxnSpPr>
          <p:nvPr/>
        </p:nvCxnSpPr>
        <p:spPr>
          <a:xfrm rot="5400000">
            <a:off x="9700260" y="2284730"/>
            <a:ext cx="582295" cy="1385570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13" idx="1"/>
            <a:endCxn id="10" idx="1"/>
          </p:cNvCxnSpPr>
          <p:nvPr/>
        </p:nvCxnSpPr>
        <p:spPr>
          <a:xfrm rot="10800000" flipH="1">
            <a:off x="7278370" y="3268345"/>
            <a:ext cx="78740" cy="2085975"/>
          </a:xfrm>
          <a:prstGeom prst="bentConnector3">
            <a:avLst>
              <a:gd name="adj1" fmla="val -302419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3" idx="2"/>
            <a:endCxn id="21" idx="0"/>
          </p:cNvCxnSpPr>
          <p:nvPr/>
        </p:nvCxnSpPr>
        <p:spPr>
          <a:xfrm>
            <a:off x="8319135" y="5572125"/>
            <a:ext cx="9525" cy="2584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1" idx="2"/>
            <a:endCxn id="22" idx="1"/>
          </p:cNvCxnSpPr>
          <p:nvPr/>
        </p:nvCxnSpPr>
        <p:spPr>
          <a:xfrm>
            <a:off x="9336405" y="6148070"/>
            <a:ext cx="559435" cy="44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297670" y="204406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Yes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404225" y="2645410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No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487410" y="5512435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Yes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502400" y="4064000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No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104997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Flowchart -- Finding the GCD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  <p:bldP spid="5" grpId="0" animBg="1"/>
      <p:bldP spid="27" grpId="0"/>
      <p:bldP spid="28" grpId="0"/>
      <p:bldP spid="5" grpId="1" animBg="1"/>
      <p:bldP spid="27" grpId="1"/>
      <p:bldP spid="28" grpId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1" grpId="1" animBg="1"/>
      <p:bldP spid="12" grpId="1" animBg="1"/>
      <p:bldP spid="13" grpId="0" animBg="1"/>
      <p:bldP spid="30" grpId="0"/>
      <p:bldP spid="29" grpId="0"/>
      <p:bldP spid="13" grpId="1" animBg="1"/>
      <p:bldP spid="30" grpId="1"/>
      <p:bldP spid="29" grpId="1"/>
      <p:bldP spid="21" grpId="0" animBg="1"/>
      <p:bldP spid="22" grpId="0" animBg="1"/>
      <p:bldP spid="21" grpId="1" animBg="1"/>
      <p:bldP spid="2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86995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Sequential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</a:t>
            </a:r>
            <a:r>
              <a:rPr lang="en-US" altLang="zh-CN" sz="2800" u="sng">
                <a:sym typeface="+mn-ea"/>
              </a:rPr>
              <a:t>sequential structure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834517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Execute statements by</a:t>
            </a:r>
            <a:r>
              <a:rPr lang="zh-CN" altLang="en-US" sz="2400">
                <a:solidFill>
                  <a:schemeClr val="tx1"/>
                </a:solidFill>
                <a:highlight>
                  <a:srgbClr val="FFFF00"/>
                </a:highlight>
              </a:rPr>
              <a:t>their order of appearance</a:t>
            </a:r>
            <a:r>
              <a:rPr lang="zh-CN" altLang="en-US" sz="2400">
                <a:solidFill>
                  <a:schemeClr val="tx1"/>
                </a:solidFill>
              </a:rPr>
              <a:t>Execute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First statement block</a:t>
            </a:r>
            <a:r>
              <a:rPr lang="en-US" altLang="zh-CN" sz="2400">
                <a:solidFill>
                  <a:schemeClr val="tx1"/>
                </a:solidFill>
              </a:rPr>
              <a:t>1,</a:t>
            </a:r>
            <a:r>
              <a:rPr lang="zh-CN" altLang="en-US" sz="2400">
                <a:solidFill>
                  <a:schemeClr val="tx1"/>
                </a:solidFill>
              </a:rPr>
              <a:t>then</a:t>
            </a:r>
            <a:r>
              <a:rPr lang="en-US" altLang="zh-CN" sz="2400">
                <a:solidFill>
                  <a:schemeClr val="tx1"/>
                </a:solidFill>
              </a:rPr>
              <a:t>2 and 3</a:t>
            </a:r>
            <a:endParaRPr lang="en-US" altLang="zh-CN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Example: Suppose a customer buys several identical products. The program receives the unit price and quantity and then calculates the total price.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" y="3773170"/>
            <a:ext cx="5524500" cy="1619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385" y="3573780"/>
            <a:ext cx="4400550" cy="245745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9450070" y="0"/>
            <a:ext cx="2741930" cy="3429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885317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Sequential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</a:t>
            </a:r>
            <a:r>
              <a:rPr lang="en-US" altLang="zh-CN" sz="2800" u="sng">
                <a:sym typeface="+mn-ea"/>
              </a:rPr>
              <a:t>sequential structure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4370" y="1273175"/>
            <a:ext cx="834517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>
              <a:buFont typeface="Arial" panose="020B0604020202020204" pitchFamily="34" charset="0"/>
            </a:pPr>
            <a:endParaRPr lang="en-US" altLang="zh-CN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Example: Temperature Conversion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The formula for converting Celsius temperature to Fahrenheit temperature is </a:t>
            </a:r>
            <a:r>
              <a:rPr lang="en-US" altLang="zh-CN" sz="2400" i="1">
                <a:solidFill>
                  <a:schemeClr val="tx1"/>
                </a:solidFill>
              </a:rPr>
              <a:t>F=9/5 * C + 32.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25" y="2850515"/>
            <a:ext cx="6372860" cy="13906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90115" y="4466590"/>
            <a:ext cx="93294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NOTE THAT: This program </a:t>
            </a:r>
            <a:r>
              <a:rPr lang="en-US" altLang="zh-CN" sz="2800">
                <a:solidFill>
                  <a:srgbClr val="FF0000"/>
                </a:solidFill>
              </a:rPr>
              <a:t>does not make a decision</a:t>
            </a:r>
            <a:r>
              <a:rPr lang="en-US" altLang="zh-CN" sz="2800"/>
              <a:t>. Therefore, it uses only a </a:t>
            </a:r>
            <a:r>
              <a:rPr lang="en-US" altLang="zh-CN" sz="2800" u="sng"/>
              <a:t>sequential structure.</a:t>
            </a:r>
            <a:endParaRPr lang="en-US" altLang="zh-CN" sz="2800" u="sn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1122616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2192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10548620" cy="2255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Why do we need a selection structure? Recall the</a:t>
            </a:r>
            <a:r>
              <a:rPr lang="zh-CN" altLang="en-US" sz="2400">
                <a:solidFill>
                  <a:schemeClr val="tx1"/>
                </a:solidFill>
              </a:rPr>
              <a:t>features of a sequential structure.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Sequential programs always execute the same statements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Many real-world problems require different actions in different situations:</a:t>
            </a:r>
            <a:endParaRPr lang="en-US" altLang="zh-CN" sz="2400">
              <a:solidFill>
                <a:schemeClr val="tx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Examples include grading scores by range, checking passwords, and applying shopping discounts.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005" y="4082415"/>
            <a:ext cx="8953500" cy="140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83210" y="631190"/>
            <a:ext cx="11522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Which data type represents yes/no?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9230" y="1318260"/>
            <a:ext cx="4965065" cy="1598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 Boolean value has only two possible values:</a:t>
            </a:r>
            <a:endParaRPr lang="en-US" altLang="zh-CN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</a:rPr>
              <a:t>T</a:t>
            </a:r>
            <a:r>
              <a:rPr lang="en-US" altLang="zh-CN" sz="2400"/>
              <a:t>rue</a:t>
            </a:r>
            <a:endParaRPr lang="en-US" altLang="zh-CN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FF0000"/>
                </a:solidFill>
              </a:rPr>
              <a:t>F</a:t>
            </a:r>
            <a:r>
              <a:rPr lang="en-US" altLang="zh-CN" sz="2400"/>
              <a:t>alse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80780" y="262890"/>
            <a:ext cx="31476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The Boolean Data Type!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8960" y="2916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Try these codes: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210" y="3284855"/>
            <a:ext cx="4314825" cy="25101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584190" y="131826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 </a:t>
            </a:r>
            <a:r>
              <a:rPr lang="en-US" altLang="zh-CN" u="sng"/>
              <a:t>Boolean expression</a:t>
            </a:r>
            <a:r>
              <a:rPr lang="en-US" altLang="zh-CN"/>
              <a:t> is an expression whose result is either </a:t>
            </a:r>
            <a:r>
              <a:rPr lang="en-US" altLang="zh-CN" i="1"/>
              <a:t>True </a:t>
            </a:r>
            <a:r>
              <a:rPr lang="en-US" altLang="zh-CN"/>
              <a:t>or </a:t>
            </a:r>
            <a:r>
              <a:rPr lang="en-US" altLang="zh-CN" i="1"/>
              <a:t>False</a:t>
            </a:r>
            <a:endParaRPr lang="en-US" altLang="zh-CN" i="1"/>
          </a:p>
          <a:p>
            <a:r>
              <a:rPr lang="en-US" altLang="zh-CN" i="1"/>
              <a:t>Examples:</a:t>
            </a:r>
            <a:endParaRPr lang="en-US" altLang="zh-CN" i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830" y="2240280"/>
            <a:ext cx="2895600" cy="11620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780" y="1960880"/>
            <a:ext cx="2755900" cy="14097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09920" y="3370580"/>
            <a:ext cx="6096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Boolean expressions are the basis of conditional statements!!!</a:t>
            </a:r>
            <a:endParaRPr lang="en-US" altLang="zh-CN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940" y="4462780"/>
            <a:ext cx="9271635" cy="1829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" grpId="0"/>
      <p:bldP spid="5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8488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Python Comparisons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4845" y="1252855"/>
            <a:ext cx="87706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Comparison operators compare </a:t>
            </a:r>
            <a:r>
              <a:rPr lang="en-US" altLang="zh-CN" u="sng"/>
              <a:t>two values</a:t>
            </a:r>
            <a:r>
              <a:rPr lang="en-US" altLang="zh-CN"/>
              <a:t> and produce </a:t>
            </a:r>
            <a:r>
              <a:rPr lang="en-US" altLang="zh-CN" u="sng"/>
              <a:t>a Boolean result</a:t>
            </a:r>
            <a:endParaRPr lang="en-US" altLang="zh-CN" u="sng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845" y="1720850"/>
            <a:ext cx="5202555" cy="17341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76960" y="2085975"/>
            <a:ext cx="1624965" cy="2114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42315" y="3554730"/>
            <a:ext cx="27457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Numbers can be compared:</a:t>
            </a:r>
            <a:endParaRPr lang="en-US" altLang="zh-CN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" y="3881755"/>
            <a:ext cx="2952750" cy="17335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677285" y="3554730"/>
            <a:ext cx="27457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Strings can be compared:</a:t>
            </a:r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595" y="3961765"/>
            <a:ext cx="2946400" cy="1143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677285" y="5176520"/>
            <a:ext cx="28867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Python is case-sensitive! 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How to standardize the user’s input?</a:t>
            </a:r>
            <a:endParaRPr lang="en-US" altLang="zh-CN" b="1">
              <a:solidFill>
                <a:srgbClr val="FF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3649345"/>
            <a:ext cx="5824855" cy="1997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5" grpId="0"/>
      <p:bldP spid="15" grpId="1"/>
      <p:bldP spid="17" grpId="0"/>
      <p:bldP spid="1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8488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Python Comparisons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4845" y="1252855"/>
            <a:ext cx="87706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/>
              <a:t>Chained comparisons</a:t>
            </a:r>
            <a:endParaRPr lang="en-US" altLang="zh-CN" sz="1800" u="sng"/>
          </a:p>
        </p:txBody>
      </p:sp>
      <p:sp>
        <p:nvSpPr>
          <p:cNvPr id="15" name="文本框 14"/>
          <p:cNvSpPr txBox="1"/>
          <p:nvPr/>
        </p:nvSpPr>
        <p:spPr>
          <a:xfrm>
            <a:off x="741680" y="1621155"/>
            <a:ext cx="27457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/>
              <a:t>What is the output?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" y="1989455"/>
            <a:ext cx="3276600" cy="952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3000375"/>
            <a:ext cx="3505200" cy="857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4040505"/>
            <a:ext cx="9827895" cy="17456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5" grpId="0"/>
      <p:bldP spid="1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8488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Python Comparisons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4845" y="1252855"/>
            <a:ext cx="87706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/>
              <a:t>Programs often combine Boolean expressions: and, or, not</a:t>
            </a:r>
            <a:endParaRPr lang="en-US" altLang="zh-CN" sz="1800" i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" y="1720850"/>
            <a:ext cx="3849370" cy="9467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" y="2667635"/>
            <a:ext cx="3877310" cy="14522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60" y="1761490"/>
            <a:ext cx="4295140" cy="9563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60" y="2717800"/>
            <a:ext cx="3560445" cy="13633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20" y="4147820"/>
            <a:ext cx="3672205" cy="25476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970" y="4147820"/>
            <a:ext cx="3958590" cy="14192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470900" y="1902460"/>
            <a:ext cx="3429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The </a:t>
            </a:r>
            <a:r>
              <a:rPr lang="en-US" altLang="zh-CN" sz="1600" i="1"/>
              <a:t>not </a:t>
            </a:r>
            <a:r>
              <a:rPr lang="en-US" altLang="zh-CN" sz="1600"/>
              <a:t>operator reverses a Boolean value.</a:t>
            </a:r>
            <a:endParaRPr lang="en-US" altLang="zh-CN" sz="16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3300" y="2533015"/>
            <a:ext cx="2407285" cy="9505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6205" y="3530600"/>
            <a:ext cx="4342130" cy="1417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4" grpId="0"/>
      <p:bldP spid="14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8488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Python Comparisons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4845" y="1252855"/>
            <a:ext cx="87706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/>
              <a:t>Programs often combine Boolean expressions: and, or, not</a:t>
            </a:r>
            <a:endParaRPr lang="en-US" altLang="zh-CN" sz="1800" i="1"/>
          </a:p>
        </p:txBody>
      </p:sp>
      <p:sp>
        <p:nvSpPr>
          <p:cNvPr id="4" name="文本框 3"/>
          <p:cNvSpPr txBox="1"/>
          <p:nvPr/>
        </p:nvSpPr>
        <p:spPr>
          <a:xfrm>
            <a:off x="736600" y="1653540"/>
            <a:ext cx="3141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Combining Logical Operators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2021840"/>
            <a:ext cx="4353560" cy="1473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4070" y="3526155"/>
            <a:ext cx="42995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highlight>
                  <a:srgbClr val="C0C0C0"/>
                </a:highlight>
              </a:rPr>
              <a:t>What problem does this describe?</a:t>
            </a:r>
            <a:endParaRPr lang="zh-CN" altLang="en-US">
              <a:highlight>
                <a:srgbClr val="C0C0C0"/>
              </a:highlight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4008755"/>
            <a:ext cx="4144010" cy="103314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353050" y="1670050"/>
            <a:ext cx="24644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Operator Precedence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2086610"/>
            <a:ext cx="2263140" cy="184594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485" y="1720850"/>
            <a:ext cx="2784475" cy="7969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160" y="4075430"/>
            <a:ext cx="6742430" cy="149987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556125" y="5718175"/>
            <a:ext cx="73272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Use parentheses to make calculation logic clear.</a:t>
            </a:r>
            <a:endParaRPr lang="zh-C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4" grpId="0"/>
      <p:bldP spid="4" grpId="1"/>
      <p:bldP spid="6" grpId="0"/>
      <p:bldP spid="6" grpId="1"/>
      <p:bldP spid="15" grpId="0"/>
      <p:bldP spid="1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8488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Python Comparisons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4845" y="1252855"/>
            <a:ext cx="637349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/>
              <a:t>Think: what problem does this code solve?</a:t>
            </a:r>
            <a:endParaRPr lang="en-US" altLang="zh-CN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10" y="1621155"/>
            <a:ext cx="2502535" cy="8623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" y="2427605"/>
            <a:ext cx="3733800" cy="781050"/>
          </a:xfrm>
          <a:prstGeom prst="rect">
            <a:avLst/>
          </a:prstGeom>
        </p:spPr>
      </p:pic>
      <p:sp>
        <p:nvSpPr>
          <p:cNvPr id="10" name="乘号 9"/>
          <p:cNvSpPr/>
          <p:nvPr/>
        </p:nvSpPr>
        <p:spPr>
          <a:xfrm>
            <a:off x="2814320" y="1543050"/>
            <a:ext cx="687070" cy="64643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3168015"/>
            <a:ext cx="3257550" cy="7556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995" y="3446780"/>
            <a:ext cx="7625715" cy="30149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627880" y="2427605"/>
            <a:ext cx="73272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For logical comparisons, each side of a logical operator needs a complete Boolean expression!</a:t>
            </a:r>
            <a:endParaRPr lang="zh-CN" altLang="en-US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0" grpId="0" animBg="1"/>
      <p:bldP spid="1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7055" y="631190"/>
            <a:ext cx="91160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 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1385" y="1404620"/>
            <a:ext cx="1054862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Based on</a:t>
            </a:r>
            <a:r>
              <a:rPr lang="zh-CN" altLang="en-US" sz="2400">
                <a:solidFill>
                  <a:schemeClr val="tx1"/>
                </a:solidFill>
                <a:highlight>
                  <a:srgbClr val="FFFF00"/>
                </a:highlight>
              </a:rPr>
              <a:t>conditions, control</a:t>
            </a:r>
            <a:r>
              <a:rPr lang="zh-CN" altLang="en-US" sz="2400">
                <a:solidFill>
                  <a:schemeClr val="tx1"/>
                </a:solidFill>
              </a:rPr>
              <a:t>the executed code</a:t>
            </a:r>
            <a:r>
              <a:rPr lang="en-US" altLang="zh-CN" sz="2400">
                <a:solidFill>
                  <a:schemeClr val="tx1"/>
                </a:solidFill>
              </a:rPr>
              <a:t>: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single-branch structure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two-branch structure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multi-</a:t>
            </a:r>
            <a:r>
              <a:rPr lang="zh-CN" altLang="en-US" sz="2400">
                <a:solidFill>
                  <a:schemeClr val="tx1"/>
                </a:solidFill>
              </a:rPr>
              <a:t>branch structure</a:t>
            </a: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822325" y="3167380"/>
            <a:ext cx="10240645" cy="2846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104470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Basic if Statement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5280" y="1601470"/>
            <a:ext cx="5422900" cy="1671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</a:rPr>
              <a:t>A selection structure is controlled by if statements</a:t>
            </a:r>
            <a:endParaRPr lang="zh-CN" altLang="en-US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7965" y="238760"/>
            <a:ext cx="5308600" cy="2387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45" y="2091690"/>
            <a:ext cx="2286000" cy="11811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002780" y="274574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Code Execution Process</a:t>
            </a:r>
            <a:endParaRPr lang="zh-CN" altLang="en-US" sz="240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1965" y="32727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Example: Positive Number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3641090"/>
            <a:ext cx="3456940" cy="12782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2605" y="4954905"/>
            <a:ext cx="531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Suppose we enter 8, what happens next?</a:t>
            </a:r>
            <a:endParaRPr lang="en-US" altLang="zh-CN">
              <a:highlight>
                <a:srgbClr val="C0C0C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6255" y="5391785"/>
            <a:ext cx="5311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Suppose we enter -3, what happens next?</a:t>
            </a:r>
            <a:endParaRPr lang="en-US" altLang="zh-CN">
              <a:highlight>
                <a:srgbClr val="C0C0C0"/>
              </a:highlight>
            </a:endParaRPr>
          </a:p>
        </p:txBody>
      </p:sp>
      <p:sp>
        <p:nvSpPr>
          <p:cNvPr id="13" name="左箭头 12"/>
          <p:cNvSpPr/>
          <p:nvPr/>
        </p:nvSpPr>
        <p:spPr>
          <a:xfrm rot="1260000">
            <a:off x="1027430" y="4514850"/>
            <a:ext cx="1337945" cy="38163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箭头 13"/>
          <p:cNvSpPr/>
          <p:nvPr/>
        </p:nvSpPr>
        <p:spPr>
          <a:xfrm rot="1260000">
            <a:off x="795655" y="4915535"/>
            <a:ext cx="1337945" cy="38163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54855" y="3244850"/>
            <a:ext cx="74612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Understanding Indentation </a:t>
            </a:r>
            <a:r>
              <a:rPr lang="en-US" altLang="zh-CN"/>
              <a:t>- Python uses indentation to identify the 			statements that belong to an </a:t>
            </a:r>
            <a:r>
              <a:rPr lang="en-US" altLang="zh-CN" i="1"/>
              <a:t>if</a:t>
            </a:r>
            <a:r>
              <a:rPr lang="en-US" altLang="zh-CN"/>
              <a:t> block</a:t>
            </a:r>
            <a:endParaRPr lang="en-US" altLang="zh-CN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150" y="3890010"/>
            <a:ext cx="4718050" cy="184785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6261735" y="4721225"/>
            <a:ext cx="5220335" cy="57912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678035" y="5066030"/>
            <a:ext cx="23723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These two print statements are inside the if block</a:t>
            </a:r>
            <a:endParaRPr lang="en-US" altLang="zh-CN"/>
          </a:p>
          <a:p>
            <a:r>
              <a:rPr lang="zh-CN" altLang="en-US"/>
              <a:t>They run only when the condition is met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555" y="577215"/>
            <a:ext cx="7960360" cy="255905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7475220" y="4287520"/>
            <a:ext cx="758190" cy="57912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32800" y="3928745"/>
            <a:ext cx="25812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 </a:t>
            </a:r>
            <a:r>
              <a:rPr lang="en-US" altLang="zh-CN">
                <a:highlight>
                  <a:srgbClr val="FFFF00"/>
                </a:highlight>
              </a:rPr>
              <a:t>colon </a:t>
            </a:r>
            <a:r>
              <a:rPr lang="en-US" altLang="zh-CN"/>
              <a:t>must appear </a:t>
            </a:r>
            <a:endParaRPr lang="en-US" altLang="zh-CN"/>
          </a:p>
          <a:p>
            <a:r>
              <a:rPr lang="en-US" altLang="zh-CN"/>
              <a:t>at the end of the if line.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1" grpId="0"/>
      <p:bldP spid="11" grpId="1"/>
      <p:bldP spid="12" grpId="0"/>
      <p:bldP spid="12" grpId="1"/>
      <p:bldP spid="13" grpId="0" animBg="1"/>
      <p:bldP spid="13" grpId="1" animBg="1"/>
      <p:bldP spid="14" grpId="0" animBg="1"/>
      <p:bldP spid="14" grpId="1" animBg="1"/>
      <p:bldP spid="15" grpId="0"/>
      <p:bldP spid="15" grpId="1"/>
      <p:bldP spid="17" grpId="0" animBg="1"/>
      <p:bldP spid="17" grpId="1" animBg="1"/>
      <p:bldP spid="18" grpId="0"/>
      <p:bldP spid="18" grpId="1"/>
      <p:bldP spid="20" grpId="0" bldLvl="0" animBg="1"/>
      <p:bldP spid="20" grpId="1" animBg="1"/>
      <p:bldP spid="21" grpId="0"/>
      <p:bldP spid="2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if-else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statement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1245235"/>
            <a:ext cx="3403600" cy="1162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650" y="2450465"/>
            <a:ext cx="2501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Example: Pass or Fail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5" y="2861945"/>
            <a:ext cx="4071620" cy="13360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92785" y="4283075"/>
            <a:ext cx="2501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Example: </a:t>
            </a:r>
            <a:r>
              <a:rPr lang="en-US" altLang="zh-CN">
                <a:highlight>
                  <a:srgbClr val="FFFF00"/>
                </a:highlight>
              </a:rPr>
              <a:t>Even or Odd</a:t>
            </a:r>
            <a:endParaRPr lang="en-US" altLang="zh-CN">
              <a:highlight>
                <a:srgbClr val="FFFF00"/>
              </a:highligh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56275" y="1195070"/>
            <a:ext cx="43459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Example: Larger of Two Numbers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55" y="4652645"/>
            <a:ext cx="4147820" cy="14097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275" y="1563370"/>
            <a:ext cx="4135755" cy="15081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784215" y="3071495"/>
            <a:ext cx="54006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Example: Assigning a Result in Each Branch</a:t>
            </a:r>
            <a:endParaRPr lang="en-US" altLang="zh-CN">
              <a:highlight>
                <a:srgbClr val="FFFF00"/>
              </a:highlight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215" y="3439795"/>
            <a:ext cx="4107815" cy="18688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784215" y="5358130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This is often clearer than placing a separate </a:t>
            </a:r>
            <a:r>
              <a:rPr lang="en-US" altLang="zh-CN" sz="2400" i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print </a:t>
            </a:r>
            <a:r>
              <a:rPr lang="en-US" altLang="zh-CN" sz="24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statement in each branch.</a:t>
            </a:r>
            <a:endParaRPr lang="en-US" altLang="zh-CN" sz="24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9" grpId="1"/>
      <p:bldP spid="11" grpId="0"/>
      <p:bldP spid="11" grpId="1"/>
      <p:bldP spid="14" grpId="0"/>
      <p:bldP spid="14" grpId="1"/>
      <p:bldP spid="16" grpId="0"/>
      <p:bldP spid="16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1762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280" y="1404620"/>
            <a:ext cx="10548620" cy="1034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So far, we have learned two statements: if and if-else</a:t>
            </a:r>
            <a:endParaRPr lang="zh-CN" altLang="en-US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Use a colon after each condition; the following block runs when the condition is met.</a:t>
            </a:r>
            <a:endParaRPr lang="zh-CN" altLang="en-US" sz="20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>
                <a:sym typeface="+mn-ea"/>
              </a:rPr>
              <a:t>Use indentation to define blocks; statements with the same indentation belong to one block.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103168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if-elif-else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055" y="2900045"/>
            <a:ext cx="11534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highlight>
                  <a:srgbClr val="C0C0C0"/>
                </a:highlight>
              </a:rPr>
              <a:t>For multiple output categories, must we repeat if-else many times? Excellent / Good / Pass / Fail</a:t>
            </a:r>
            <a:endParaRPr lang="zh-CN" altLang="en-US" sz="2000">
              <a:highlight>
                <a:srgbClr val="C0C0C0"/>
              </a:highligh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99460" y="3329940"/>
            <a:ext cx="76523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/>
              <a:t>Python uses </a:t>
            </a:r>
            <a:r>
              <a:rPr lang="en-US" altLang="zh-CN" sz="2000">
                <a:solidFill>
                  <a:srgbClr val="FF0000"/>
                </a:solidFill>
              </a:rPr>
              <a:t>elif,</a:t>
            </a:r>
            <a:r>
              <a:rPr lang="en-US" altLang="zh-CN" sz="2000"/>
              <a:t> meaning “else if”, to test additional conditions.</a:t>
            </a:r>
            <a:endParaRPr lang="en-US" altLang="zh-CN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4206875"/>
            <a:ext cx="2647950" cy="2114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170" y="3918585"/>
            <a:ext cx="8191500" cy="291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716280" y="1404620"/>
            <a:ext cx="410527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Example: Letter Grade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8191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if-elif-else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975485"/>
            <a:ext cx="4105275" cy="31724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894965" y="3429000"/>
            <a:ext cx="247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One grade from A to F is always assigned.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5283200" y="12934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Question: Does order matter? What if we swap the condition positions?</a:t>
            </a:r>
            <a:endParaRPr lang="zh-CN" altLang="en-US">
              <a:highlight>
                <a:srgbClr val="C0C0C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83200" y="2003425"/>
            <a:ext cx="347472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Suppose the score is 95.</a:t>
            </a:r>
            <a:endParaRPr lang="en-US" altLang="zh-CN" sz="1600"/>
          </a:p>
          <a:p>
            <a:r>
              <a:rPr lang="en-US" altLang="zh-CN" sz="1600"/>
              <a:t>Python tests:</a:t>
            </a:r>
            <a:endParaRPr lang="en-US" altLang="zh-CN" sz="1600"/>
          </a:p>
          <a:p>
            <a:pPr lvl="1"/>
            <a:r>
              <a:rPr lang="en-US" altLang="zh-CN" sz="1600"/>
              <a:t>1. Is score &gt;= 90? Yes.</a:t>
            </a:r>
            <a:endParaRPr lang="en-US" altLang="zh-CN" sz="1600"/>
          </a:p>
          <a:p>
            <a:pPr indent="457200"/>
            <a:r>
              <a:rPr lang="en-US" altLang="zh-CN" sz="1600"/>
              <a:t>2. Assign "A" to grade.</a:t>
            </a:r>
            <a:endParaRPr lang="en-US" altLang="zh-CN" sz="1600"/>
          </a:p>
          <a:p>
            <a:pPr indent="457200"/>
            <a:r>
              <a:rPr lang="en-US" altLang="zh-CN" sz="1600"/>
              <a:t>3. Skip all remaining branches.</a:t>
            </a:r>
            <a:endParaRPr lang="en-US" altLang="zh-CN" sz="16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20" y="1828165"/>
            <a:ext cx="3162300" cy="25527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986520" y="4451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What is the output?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71840" y="4891405"/>
            <a:ext cx="36722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For a score of 95, </a:t>
            </a:r>
            <a:r>
              <a:rPr lang="en-US" altLang="zh-CN" b="1"/>
              <a:t>the first condition score &gt;= 60 is already true</a:t>
            </a:r>
            <a:r>
              <a:rPr lang="en-US" altLang="zh-CN"/>
              <a:t>. Therefore, the program assigns grade D and</a:t>
            </a:r>
            <a:endParaRPr lang="en-US" altLang="zh-CN"/>
          </a:p>
          <a:p>
            <a:r>
              <a:rPr lang="en-US" altLang="zh-CN"/>
              <a:t>never reaches the later conditions.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" y="5011420"/>
            <a:ext cx="6727825" cy="1885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2" grpId="0"/>
      <p:bldP spid="12" grpId="1"/>
      <p:bldP spid="15" grpId="0"/>
      <p:bldP spid="15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728980" y="1551940"/>
            <a:ext cx="410527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Example: Letter Grade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41350"/>
            <a:ext cx="793496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</a:t>
            </a: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else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975485"/>
            <a:ext cx="4105275" cy="31724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20335" y="14598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Let's look again at the ranges explained by this code.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17384"/>
          <a:stretch>
            <a:fillRect/>
          </a:stretch>
        </p:blipFill>
        <p:spPr>
          <a:xfrm>
            <a:off x="4834255" y="1786255"/>
            <a:ext cx="7366635" cy="1642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27065" y="3625850"/>
            <a:ext cx="4979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Although the program only writes score &gt;= 80, entering this branch already implies score &gt;= 90 is false.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4946015" y="2494915"/>
            <a:ext cx="1670050" cy="2063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animBg="1"/>
      <p:bldP spid="6" grpId="1" animBg="1"/>
      <p:bldP spid="5" grpId="0"/>
      <p:bldP spid="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716280" y="1404620"/>
            <a:ext cx="469328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</a:rPr>
              <a:t>Example: Comparing Two Numbers</a:t>
            </a:r>
            <a:endParaRPr lang="en-US" altLang="zh-CN" sz="20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51510"/>
            <a:ext cx="78225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if-elif-else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75" y="1828165"/>
            <a:ext cx="4135755" cy="1508125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4956810" y="2508250"/>
            <a:ext cx="2118360" cy="1479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999990" y="1920240"/>
            <a:ext cx="2358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How to use elif</a:t>
            </a:r>
            <a:endParaRPr lang="zh-CN" altLang="en-US"/>
          </a:p>
          <a:p>
            <a:r>
              <a:rPr lang="zh-CN" altLang="en-US"/>
              <a:t>Consider equality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0" y="1304925"/>
            <a:ext cx="4991100" cy="23177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37540" y="33362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Example: Temperature Description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" y="3852545"/>
            <a:ext cx="4577715" cy="26066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030" y="4584700"/>
            <a:ext cx="5405755" cy="17773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327650" y="3960495"/>
            <a:ext cx="5468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Question: What are the boundaries for each temperature description?</a:t>
            </a:r>
            <a:endParaRPr lang="zh-CN" altLang="en-US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8" grpId="1" animBg="1"/>
      <p:bldP spid="10" grpId="1"/>
      <p:bldP spid="12" grpId="0"/>
      <p:bldP spid="12" grpId="1"/>
      <p:bldP spid="16" grpId="0"/>
      <p:bldP spid="16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421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280" y="1404620"/>
            <a:ext cx="10548620" cy="475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</a:rPr>
              <a:t>Example: Dog Age Conversion</a:t>
            </a:r>
            <a:endParaRPr lang="en-US" altLang="zh-CN" sz="240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41350"/>
            <a:ext cx="740664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if-elif-else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98675" y="1910080"/>
            <a:ext cx="8994140" cy="391858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age = int(input("Enter your dog's age: "))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print</a:t>
            </a:r>
            <a:r>
              <a:rPr lang="en-US" altLang="zh-CN" sz="2000" b="0" i="0">
                <a:solidFill>
                  <a:srgbClr val="8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(</a:t>
            </a:r>
            <a:r>
              <a:rPr lang="en-US" altLang="zh-CN" sz="2000" b="0" i="0">
                <a:solidFill>
                  <a:srgbClr val="8B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""</a:t>
            </a:r>
            <a:r>
              <a:rPr lang="en-US" altLang="zh-CN" sz="2000" b="0" i="0">
                <a:solidFill>
                  <a:srgbClr val="8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)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8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# How should we decide? Try inputs such as -10086 or 3.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if </a:t>
            </a: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age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&lt;= 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0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: </a:t>
            </a:r>
            <a:endParaRPr lang="en-US" altLang="zh-CN" sz="2000" b="0" i="0">
              <a:solidFill>
                <a:srgbClr val="80808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4572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print("Are you kidding me!")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elif </a:t>
            </a: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age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== 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1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: </a:t>
            </a:r>
            <a:endParaRPr lang="en-US" altLang="zh-CN" sz="2000" b="0" i="0">
              <a:solidFill>
                <a:srgbClr val="80808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4572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print("Equivalent to a 14-year-old human.")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elif </a:t>
            </a: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age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== 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2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: </a:t>
            </a:r>
            <a:endParaRPr lang="en-US" altLang="zh-CN" sz="2000" b="0" i="0">
              <a:solidFill>
                <a:srgbClr val="80808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4572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print("Equivalent to a 22-year-old human.")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elif </a:t>
            </a: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age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&gt; 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2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: </a:t>
            </a:r>
            <a:endParaRPr lang="en-US" altLang="zh-CN" sz="2000" b="0" i="0">
              <a:solidFill>
                <a:srgbClr val="80808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4572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human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= 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22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+ </a:t>
            </a:r>
            <a:r>
              <a:rPr lang="en-US" altLang="zh-CN" sz="2000" b="0" i="0">
                <a:solidFill>
                  <a:srgbClr val="8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(</a:t>
            </a: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age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 -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2</a:t>
            </a:r>
            <a:r>
              <a:rPr lang="en-US" altLang="zh-CN" sz="2000" b="0" i="0">
                <a:solidFill>
                  <a:srgbClr val="808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)</a:t>
            </a:r>
            <a:r>
              <a:rPr lang="en-US" altLang="zh-CN" sz="2000" b="0" i="0">
                <a:solidFill>
                  <a:srgbClr val="80808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*</a:t>
            </a:r>
            <a:r>
              <a:rPr lang="en-US" altLang="zh-CN" sz="2000" b="0" i="0">
                <a:solidFill>
                  <a:srgbClr val="800000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5</a:t>
            </a:r>
            <a:endParaRPr lang="en-US" altLang="zh-CN" sz="2000" b="0" i="0">
              <a:solidFill>
                <a:srgbClr val="800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  <a:p>
            <a:pPr marL="0" indent="4572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055AA"/>
                </a:solidFill>
                <a:latin typeface="Constantia" panose="02030602050306030303" charset="0"/>
                <a:ea typeface="Segoe Print" panose="02000600000000000000" charset="0"/>
                <a:cs typeface="Constantia" panose="02030602050306030303" charset="0"/>
              </a:rPr>
              <a:t>print("Human age: ", human)</a:t>
            </a:r>
            <a:endParaRPr lang="en-US" altLang="zh-CN" sz="2000" b="0" i="0">
              <a:solidFill>
                <a:srgbClr val="808000"/>
              </a:solidFill>
              <a:latin typeface="Constantia" panose="02030602050306030303" charset="0"/>
              <a:ea typeface="Segoe Print" panose="02000600000000000000" charset="0"/>
              <a:cs typeface="Constantia" panose="0203060205030603030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1076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if-elif-else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4215" y="1192530"/>
            <a:ext cx="5468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Question: Do we always need else?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1050" y="1600200"/>
            <a:ext cx="10885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No. An if-elif structure can be used without else; if no condition is met, the program does nothing.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84860" y="2198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Example: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80" y="2524125"/>
            <a:ext cx="4400550" cy="16129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89000" y="4210685"/>
            <a:ext cx="105930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However, an else branch is often useful for handling </a:t>
            </a:r>
            <a:r>
              <a:rPr lang="en-US" altLang="zh-CN">
                <a:solidFill>
                  <a:srgbClr val="FF0000"/>
                </a:solidFill>
                <a:highlight>
                  <a:srgbClr val="C0C0C0"/>
                </a:highlight>
              </a:rPr>
              <a:t>unexpected input, </a:t>
            </a:r>
            <a:r>
              <a:rPr lang="en-US" altLang="zh-CN">
                <a:solidFill>
                  <a:schemeClr val="tx1"/>
                </a:solidFill>
                <a:highlight>
                  <a:srgbClr val="C0C0C0"/>
                </a:highlight>
              </a:rPr>
              <a:t>for example when the user enters invalid input.</a:t>
            </a:r>
            <a:endParaRPr lang="en-US" altLang="zh-CN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578985"/>
            <a:ext cx="4914900" cy="2190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5" grpId="0"/>
      <p:bldP spid="5" grpId="1"/>
      <p:bldP spid="8" grpId="0"/>
      <p:bldP spid="8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9731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if-elif-else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4215" y="1192530"/>
            <a:ext cx="9472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highlight>
                  <a:srgbClr val="FFFF00"/>
                </a:highlight>
              </a:rPr>
              <a:t>Question: if vs. if-elif. Compare outputs in Jupyter.</a:t>
            </a:r>
            <a:endParaRPr lang="zh-CN" altLang="en-US" sz="1800">
              <a:highlight>
                <a:srgbClr val="FFFF00"/>
              </a:highligh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5" y="1600200"/>
            <a:ext cx="2776220" cy="2105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26130" y="2207895"/>
            <a:ext cx="79692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VS</a:t>
            </a:r>
            <a:endParaRPr lang="en-US" altLang="zh-CN" sz="2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265" y="1600200"/>
            <a:ext cx="2660015" cy="21348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5615" y="3797935"/>
            <a:ext cx="34213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All three conditions are evaluated independently. </a:t>
            </a:r>
            <a:endParaRPr lang="en-US" altLang="zh-CN"/>
          </a:p>
          <a:p>
            <a:r>
              <a:rPr lang="en-US" altLang="zh-CN"/>
              <a:t>More than one block can be executed.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33265" y="3860800"/>
            <a:ext cx="24060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After Python finds the first true condition, it skips the remaining branches</a:t>
            </a:r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7349490" y="17227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Hints:</a:t>
            </a:r>
            <a:endParaRPr lang="en-US" altLang="zh-CN"/>
          </a:p>
          <a:p>
            <a:r>
              <a:rPr lang="en-US" altLang="zh-CN"/>
              <a:t>1. When multiple actions may apply, use if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116570" y="2356485"/>
            <a:ext cx="2385060" cy="172148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7388225" y="4074795"/>
            <a:ext cx="48037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2.When there is only one specific category to choose from,</a:t>
            </a:r>
            <a:r>
              <a:rPr lang="en-US" altLang="zh-CN">
                <a:sym typeface="+mn-ea"/>
              </a:rPr>
              <a:t>use if-elif-else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116570" y="4751705"/>
            <a:ext cx="2472690" cy="130492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9837420" y="2806700"/>
            <a:ext cx="22593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All three descriptions are true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10091420" y="5775325"/>
            <a:ext cx="20402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Only one description </a:t>
            </a:r>
            <a:r>
              <a:rPr lang="en-US" altLang="zh-CN">
                <a:solidFill>
                  <a:srgbClr val="FF0000"/>
                </a:solidFill>
              </a:rPr>
              <a:t>is true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" y="5185410"/>
            <a:ext cx="8077200" cy="1069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3" grpId="0"/>
      <p:bldP spid="3" grpId="1"/>
      <p:bldP spid="7" grpId="0"/>
      <p:bldP spid="7" grpId="1"/>
      <p:bldP spid="12" grpId="0"/>
      <p:bldP spid="12" grpId="1"/>
      <p:bldP spid="13" grpId="0"/>
      <p:bldP spid="13" grpId="1"/>
      <p:bldP spid="15" grpId="0"/>
      <p:bldP spid="15" grpId="1"/>
      <p:bldP spid="18" grpId="0"/>
      <p:bldP spid="18" grpId="1"/>
      <p:bldP spid="19" grpId="0"/>
      <p:bldP spid="19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97123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Nested Conditionals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7055" y="1179830"/>
            <a:ext cx="109702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Nested Conditional Statements</a:t>
            </a:r>
            <a:r>
              <a:rPr lang="en-US" altLang="zh-CN"/>
              <a:t> - A conditional statement placed inside another conditional statement 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4180" y="1515110"/>
            <a:ext cx="3997325" cy="9467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7545" y="23958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Example: Age and Ticket Check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45" y="2858770"/>
            <a:ext cx="5154930" cy="1873250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>
            <a:off x="6010275" y="3491230"/>
            <a:ext cx="776605" cy="4178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337175" y="3181985"/>
            <a:ext cx="1980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and can be used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415" y="2823845"/>
            <a:ext cx="3744595" cy="176339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30885" y="5309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Question: Why are nested conditionals important?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8000" y="5790565"/>
            <a:ext cx="82461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-- when the second decision depends on the result of the first decision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  <p:bldP spid="12" grpId="0" animBg="1"/>
      <p:bldP spid="12" grpId="1" animBg="1"/>
      <p:bldP spid="13" grpId="0"/>
      <p:bldP spid="13" grpId="1"/>
      <p:bldP spid="16" grpId="0"/>
      <p:bldP spid="16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106273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Nested Conditionals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6910" y="12598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highlight>
                  <a:srgbClr val="FFFF00"/>
                </a:highlight>
              </a:rPr>
              <a:t>Question: Why are nested conditionals important?</a:t>
            </a:r>
            <a:endParaRPr lang="zh-CN" altLang="en-US" sz="1800">
              <a:highlight>
                <a:srgbClr val="FFFF00"/>
              </a:highligh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689985" y="1584325"/>
            <a:ext cx="82461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/>
              <a:t>-- when the second decision depends on the result of the first decision</a:t>
            </a:r>
            <a:endParaRPr lang="en-US" altLang="zh-CN" sz="1800"/>
          </a:p>
        </p:txBody>
      </p:sp>
      <p:sp>
        <p:nvSpPr>
          <p:cNvPr id="2" name="文本框 1"/>
          <p:cNvSpPr txBox="1"/>
          <p:nvPr/>
        </p:nvSpPr>
        <p:spPr>
          <a:xfrm>
            <a:off x="760095" y="1952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Think about scenarios that require multiple</a:t>
            </a:r>
            <a:r>
              <a:rPr lang="zh-CN" altLang="en-US"/>
              <a:t>decisions.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55" y="2645410"/>
            <a:ext cx="3713480" cy="2185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395" y="2210435"/>
            <a:ext cx="3698875" cy="3816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/>
      <p:bldP spid="2" grpId="0"/>
      <p:bldP spid="2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106578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Non-Boolean Conditions</a:t>
            </a:r>
            <a:endParaRPr lang="zh-CN" altLang="en-US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6910" y="1259840"/>
            <a:ext cx="833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highlight>
                  <a:srgbClr val="FFFF00"/>
                </a:highlight>
              </a:rPr>
              <a:t>Python can treat some non-Boolean values as true or false in a condition</a:t>
            </a:r>
            <a:endParaRPr lang="zh-CN" altLang="en-US" sz="1800">
              <a:highlight>
                <a:srgbClr val="FFFF00"/>
              </a:highligh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1995" y="1682115"/>
            <a:ext cx="669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Python treats empty values and 0 as False; other values as True.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395" y="1545590"/>
            <a:ext cx="3617595" cy="2458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85" y="2104390"/>
            <a:ext cx="3863340" cy="15309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1995" y="3635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C0C0C0"/>
                </a:highlight>
              </a:rPr>
              <a:t>For beginners, clearer logic is recommended:</a:t>
            </a:r>
            <a:endParaRPr lang="zh-CN" altLang="en-US">
              <a:highlight>
                <a:srgbClr val="C0C0C0"/>
              </a:highlight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85" y="4410075"/>
            <a:ext cx="3580765" cy="9417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827780" y="558863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2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Both versions are correct.</a:t>
            </a:r>
            <a:endParaRPr lang="en-US" altLang="zh-CN" sz="2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9" grpId="1"/>
      <p:bldP spid="11" grpId="0"/>
      <p:bldP spid="11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22325" y="1273175"/>
            <a:ext cx="10647680" cy="854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/>
              <a:t>In the reading materials, I listed common problems that selection statements can solve.</a:t>
            </a:r>
            <a:endParaRPr lang="zh-CN" altLang="en-US" sz="24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7055" y="631190"/>
            <a:ext cx="117373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Common Conditional Patterns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35" y="2181225"/>
            <a:ext cx="4219575" cy="29476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2635" y="5291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Please practice and understand them on your own.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56885" y="2122170"/>
            <a:ext cx="5509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Question: How can we use if statements to find the largest of 3 numbers?</a:t>
            </a:r>
            <a:endParaRPr lang="zh-CN" altLang="en-US">
              <a:highlight>
                <a:srgbClr val="FFFF00"/>
              </a:highlight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885" y="2930525"/>
            <a:ext cx="3466465" cy="25241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570" y="3792220"/>
            <a:ext cx="4171950" cy="302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6899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Find errors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055" y="1266825"/>
            <a:ext cx="2514600" cy="6794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45485" y="13950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1: Using = Instead of ==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5" y="1846580"/>
            <a:ext cx="2552700" cy="7048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99460" y="20053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2: Missing the Colon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" y="2551430"/>
            <a:ext cx="2222500" cy="6667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81655" y="2701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3: Incorrect Indentation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" y="3174365"/>
            <a:ext cx="2781300" cy="8763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1860" y="34283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4: Inconsistent Indentation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55" y="4050665"/>
            <a:ext cx="3183890" cy="9353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806190" y="425069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5: Comparing Different Data Types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5034280"/>
            <a:ext cx="3048000" cy="685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77945" y="51657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6: Incorrect Use of or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5748020"/>
            <a:ext cx="2476500" cy="10985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451860" y="60325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7: Overlapping Conditions in the Wrong Order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  <p:bldP spid="11" grpId="0"/>
      <p:bldP spid="11" grpId="1"/>
      <p:bldP spid="13" grpId="0"/>
      <p:bldP spid="13" grpId="1"/>
      <p:bldP spid="15" grpId="0"/>
      <p:bldP spid="15" grpId="1"/>
      <p:bldP spid="17" grpId="0"/>
      <p:bldP spid="17" grpId="1"/>
      <p:bldP spid="19" grpId="0"/>
      <p:bldP spid="19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6899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Find errors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0335" y="13531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/>
              <a:t>Error 8: Missing a Boundar if we consider 0 and 100</a:t>
            </a:r>
            <a:endParaRPr lang="en-US" altLang="zh-CN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" y="1153160"/>
            <a:ext cx="3219450" cy="76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948815"/>
            <a:ext cx="3409950" cy="698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228465" y="20688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9: Writing an Impossible Condition</a:t>
            </a:r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85" y="2710815"/>
            <a:ext cx="3295650" cy="6096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174490" y="28314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Error 10: Writing an Always-True Condition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9" grpId="0"/>
      <p:bldP spid="9" grpId="1"/>
      <p:bldP spid="21" grpId="0"/>
      <p:bldP spid="21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10488295" cy="1065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</a:t>
            </a: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 - Summary: 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zh-CN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how to design an if statement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9890" y="2109470"/>
            <a:ext cx="6104890" cy="2182495"/>
            <a:chOff x="1046" y="1894"/>
            <a:chExt cx="9614" cy="3437"/>
          </a:xfrm>
        </p:grpSpPr>
        <p:sp>
          <p:nvSpPr>
            <p:cNvPr id="2" name="文本框 1"/>
            <p:cNvSpPr txBox="1"/>
            <p:nvPr/>
          </p:nvSpPr>
          <p:spPr>
            <a:xfrm>
              <a:off x="1046" y="1894"/>
              <a:ext cx="96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Step 1: Identify the Input</a:t>
              </a:r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46" y="2474"/>
              <a:ext cx="96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Step 2: Identify the Possible Outcomes</a:t>
              </a:r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60" y="3103"/>
              <a:ext cx="96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Step 3: Identify the Decision Rule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60" y="3712"/>
              <a:ext cx="96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Step 4: Choose the Correct Structure</a:t>
              </a:r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046" y="4284"/>
              <a:ext cx="96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Step 5: Check the Boundaries</a:t>
              </a:r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60" y="4751"/>
              <a:ext cx="9600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/>
                <a:t>Step 6: Trace the Program</a:t>
              </a:r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555" y="0"/>
            <a:ext cx="533844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6899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Practice Examples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5030" y="1228725"/>
            <a:ext cx="8381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Take out paper and write a short solution for the following examples.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21740" y="1932940"/>
            <a:ext cx="95294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Example 1: Determine the Sign of a Number</a:t>
            </a:r>
            <a:endParaRPr lang="en-US" altLang="zh-CN">
              <a:highlight>
                <a:srgbClr val="C0C0C0"/>
              </a:highlight>
            </a:endParaRPr>
          </a:p>
          <a:p>
            <a:endParaRPr lang="en-US" altLang="zh-CN">
              <a:highlight>
                <a:srgbClr val="C0C0C0"/>
              </a:highlight>
            </a:endParaRPr>
          </a:p>
          <a:p>
            <a:r>
              <a:rPr lang="en-US" altLang="zh-CN">
                <a:highlight>
                  <a:srgbClr val="C0C0C0"/>
                </a:highlight>
              </a:rPr>
              <a:t>Problem: Read a number and determine whether it is positive, negative, or zero.</a:t>
            </a:r>
            <a:endParaRPr lang="en-US" altLang="zh-CN">
              <a:highlight>
                <a:srgbClr val="C0C0C0"/>
              </a:highligh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1740" y="2992120"/>
            <a:ext cx="952944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Example 2: Check Whether a Year Is a Leap Year</a:t>
            </a:r>
            <a:endParaRPr lang="en-US" altLang="zh-CN">
              <a:highlight>
                <a:srgbClr val="C0C0C0"/>
              </a:highlight>
            </a:endParaRPr>
          </a:p>
          <a:p>
            <a:endParaRPr lang="en-US" altLang="zh-CN">
              <a:highlight>
                <a:srgbClr val="C0C0C0"/>
              </a:highlight>
            </a:endParaRPr>
          </a:p>
          <a:p>
            <a:r>
              <a:rPr lang="en-US" altLang="zh-CN">
                <a:highlight>
                  <a:srgbClr val="C0C0C0"/>
                </a:highlight>
              </a:rPr>
              <a:t>Hint: A year is a leap year when:</a:t>
            </a:r>
            <a:endParaRPr lang="en-US" altLang="zh-CN">
              <a:highlight>
                <a:srgbClr val="C0C0C0"/>
              </a:highlight>
            </a:endParaRPr>
          </a:p>
          <a:p>
            <a:pPr lvl="2"/>
            <a:r>
              <a:rPr lang="en-US" altLang="zh-CN">
                <a:highlight>
                  <a:srgbClr val="C0C0C0"/>
                </a:highlight>
              </a:rPr>
              <a:t>• it is divisible by 400; or</a:t>
            </a:r>
            <a:endParaRPr lang="en-US" altLang="zh-CN">
              <a:highlight>
                <a:srgbClr val="C0C0C0"/>
              </a:highlight>
            </a:endParaRPr>
          </a:p>
          <a:p>
            <a:pPr lvl="2"/>
            <a:r>
              <a:rPr lang="en-US" altLang="zh-CN">
                <a:highlight>
                  <a:srgbClr val="C0C0C0"/>
                </a:highlight>
              </a:rPr>
              <a:t>• it is divisible by 4 but not divisible by 100.</a:t>
            </a:r>
            <a:endParaRPr lang="en-US" altLang="zh-CN">
              <a:highlight>
                <a:srgbClr val="C0C0C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65885" y="4606290"/>
            <a:ext cx="9529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Example 3: Body Mass Index Categor</a:t>
            </a:r>
            <a:r>
              <a:rPr lang="en-US" altLang="zh-CN">
                <a:highlight>
                  <a:srgbClr val="C0C0C0"/>
                </a:highlight>
              </a:rPr>
              <a:t>y</a:t>
            </a:r>
            <a:endParaRPr lang="en-US" altLang="zh-CN">
              <a:highlight>
                <a:srgbClr val="C0C0C0"/>
              </a:highlight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7965" y="4926330"/>
            <a:ext cx="4239895" cy="16573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6563360"/>
            <a:ext cx="1440180" cy="294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  <p:bldP spid="12" grpId="0"/>
      <p:bldP spid="12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6899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Practice Examples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5030" y="1228725"/>
            <a:ext cx="939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Take out paper and write a short solution for the following examples.</a:t>
            </a:r>
            <a:endParaRPr lang="zh-CN" altLang="en-US" sz="1800"/>
          </a:p>
        </p:txBody>
      </p:sp>
      <p:sp>
        <p:nvSpPr>
          <p:cNvPr id="7" name="文本框 6"/>
          <p:cNvSpPr txBox="1"/>
          <p:nvPr/>
        </p:nvSpPr>
        <p:spPr>
          <a:xfrm>
            <a:off x="1211580" y="1744980"/>
            <a:ext cx="952944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highlight>
                  <a:srgbClr val="C0C0C0"/>
                </a:highlight>
              </a:rPr>
              <a:t>Example 4: Shipping Fee</a:t>
            </a:r>
            <a:endParaRPr lang="en-US" altLang="zh-CN" sz="1800">
              <a:highlight>
                <a:srgbClr val="C0C0C0"/>
              </a:highlight>
            </a:endParaRPr>
          </a:p>
          <a:p>
            <a:endParaRPr lang="en-US" altLang="zh-CN" sz="1800">
              <a:highlight>
                <a:srgbClr val="C0C0C0"/>
              </a:highlight>
            </a:endParaRPr>
          </a:p>
          <a:p>
            <a:r>
              <a:rPr lang="en-US" altLang="zh-CN" sz="1800">
                <a:highlight>
                  <a:srgbClr val="C0C0C0"/>
                </a:highlight>
              </a:rPr>
              <a:t>Suppose a store uses the following rule:</a:t>
            </a:r>
            <a:endParaRPr lang="en-US" altLang="zh-CN" sz="1800">
              <a:highlight>
                <a:srgbClr val="C0C0C0"/>
              </a:highlight>
            </a:endParaRPr>
          </a:p>
          <a:p>
            <a:pPr lvl="1"/>
            <a:r>
              <a:rPr lang="en-US" altLang="zh-CN" sz="1800">
                <a:highlight>
                  <a:srgbClr val="C0C0C0"/>
                </a:highlight>
              </a:rPr>
              <a:t>• purchase below 100 yuan: shipping fee is 10 yuan;</a:t>
            </a:r>
            <a:endParaRPr lang="en-US" altLang="zh-CN" sz="1800">
              <a:highlight>
                <a:srgbClr val="C0C0C0"/>
              </a:highlight>
            </a:endParaRPr>
          </a:p>
          <a:p>
            <a:pPr lvl="1"/>
            <a:r>
              <a:rPr lang="en-US" altLang="zh-CN" sz="1800">
                <a:highlight>
                  <a:srgbClr val="C0C0C0"/>
                </a:highlight>
              </a:rPr>
              <a:t>• purchase from 100 to below 300 yuan: shipping fee is 5 yuan;</a:t>
            </a:r>
            <a:endParaRPr lang="en-US" altLang="zh-CN" sz="1800">
              <a:highlight>
                <a:srgbClr val="C0C0C0"/>
              </a:highlight>
            </a:endParaRPr>
          </a:p>
          <a:p>
            <a:pPr lvl="1"/>
            <a:r>
              <a:rPr lang="en-US" altLang="zh-CN" sz="1800">
                <a:highlight>
                  <a:srgbClr val="C0C0C0"/>
                </a:highlight>
              </a:rPr>
              <a:t>• purchase of at least 300 yuan: free shipping.</a:t>
            </a:r>
            <a:endParaRPr lang="en-US" altLang="zh-CN" sz="1800">
              <a:highlight>
                <a:srgbClr val="C0C0C0"/>
              </a:highligh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6640" y="3498215"/>
            <a:ext cx="95294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highlight>
                  <a:srgbClr val="C0C0C0"/>
                </a:highlight>
              </a:rPr>
              <a:t>Example 5: Triangle Validity</a:t>
            </a:r>
            <a:endParaRPr lang="en-US" altLang="zh-CN" sz="1800">
              <a:highlight>
                <a:srgbClr val="C0C0C0"/>
              </a:highlight>
            </a:endParaRPr>
          </a:p>
          <a:p>
            <a:endParaRPr lang="en-US" altLang="zh-CN" sz="1800">
              <a:highlight>
                <a:srgbClr val="C0C0C0"/>
              </a:highlight>
            </a:endParaRPr>
          </a:p>
          <a:p>
            <a:r>
              <a:rPr lang="en-US" altLang="zh-CN" sz="1800">
                <a:highlight>
                  <a:srgbClr val="C0C0C0"/>
                </a:highlight>
              </a:rPr>
              <a:t>Three positive lengths can form a triangle when the sum of every two sides is greater than the third side: a+b&gt;c, a+c&gt;b, b+c&gt;a</a:t>
            </a:r>
            <a:endParaRPr lang="en-US" altLang="zh-CN" sz="1800">
              <a:highlight>
                <a:srgbClr val="C0C0C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6640" y="5068570"/>
            <a:ext cx="106413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highlight>
                  <a:srgbClr val="C0C0C0"/>
                </a:highlight>
              </a:rPr>
              <a:t>Example 6: Triangle Type</a:t>
            </a:r>
            <a:endParaRPr lang="en-US" altLang="zh-CN" sz="1800">
              <a:highlight>
                <a:srgbClr val="C0C0C0"/>
              </a:highlight>
            </a:endParaRPr>
          </a:p>
          <a:p>
            <a:r>
              <a:rPr lang="en-US" altLang="zh-CN" sz="1800">
                <a:highlight>
                  <a:srgbClr val="C0C0C0"/>
                </a:highlight>
              </a:rPr>
              <a:t>After confirming the sides form a triangle, classify it as equilateral, isosceles, or scalene.</a:t>
            </a:r>
            <a:endParaRPr lang="en-US" altLang="zh-CN" sz="1800">
              <a:highlight>
                <a:srgbClr val="C0C0C0"/>
              </a:highlight>
            </a:endParaRPr>
          </a:p>
          <a:p>
            <a:endParaRPr lang="en-US" altLang="zh-CN" sz="1800">
              <a:highlight>
                <a:srgbClr val="C0C0C0"/>
              </a:highlight>
            </a:endParaRPr>
          </a:p>
          <a:p>
            <a:r>
              <a:rPr lang="en-US" altLang="zh-CN" sz="1800">
                <a:highlight>
                  <a:srgbClr val="C0C0C0"/>
                </a:highlight>
              </a:rPr>
              <a:t>Hint: First check validity, then classify by definition. Pay attention to order because some triangle types overlap.</a:t>
            </a:r>
            <a:endParaRPr lang="zh-CN" altLang="en-US" sz="1800">
              <a:highlight>
                <a:srgbClr val="C0C0C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  <p:bldP spid="12" grpId="0"/>
      <p:bldP spid="12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7055" y="631190"/>
            <a:ext cx="86899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800" u="sng" dirty="0">
                <a:latin typeface="Arial Black" panose="020B0A04020102020204" charset="0"/>
                <a:ea typeface="等线" panose="02010600030101010101" pitchFamily="2" charset="-122"/>
                <a:sym typeface="+mn-ea"/>
              </a:rPr>
              <a:t>Selection Structure - Practice Examples</a:t>
            </a:r>
            <a:endParaRPr lang="en-US" altLang="zh-CN" sz="2800" u="sng" dirty="0">
              <a:latin typeface="Arial Black" panose="020B0A04020102020204" charset="0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5030" y="1228725"/>
            <a:ext cx="10076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Take out paper and write a short solution for the following examples.</a:t>
            </a:r>
            <a:endParaRPr lang="zh-CN" altLang="en-US" sz="1800"/>
          </a:p>
        </p:txBody>
      </p:sp>
      <p:sp>
        <p:nvSpPr>
          <p:cNvPr id="7" name="文本框 6"/>
          <p:cNvSpPr txBox="1"/>
          <p:nvPr/>
        </p:nvSpPr>
        <p:spPr>
          <a:xfrm>
            <a:off x="1292860" y="1597025"/>
            <a:ext cx="952944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highlight>
                  <a:srgbClr val="C0C0C0"/>
                </a:highlight>
              </a:rPr>
              <a:t>Example 7: Electricity Bill - calculate a tiered electricity bill</a:t>
            </a:r>
            <a:endParaRPr lang="en-US" altLang="zh-CN" sz="1800">
              <a:highlight>
                <a:srgbClr val="C0C0C0"/>
              </a:highlight>
            </a:endParaRPr>
          </a:p>
          <a:p>
            <a:endParaRPr lang="en-US" altLang="zh-CN" sz="1800">
              <a:highlight>
                <a:srgbClr val="C0C0C0"/>
              </a:highlight>
            </a:endParaRPr>
          </a:p>
          <a:p>
            <a:r>
              <a:rPr lang="en-US" altLang="zh-CN" sz="1800">
                <a:highlight>
                  <a:srgbClr val="C0C0C0"/>
                </a:highlight>
              </a:rPr>
              <a:t>Suppose electricity is charged using the following simplified rule:</a:t>
            </a:r>
            <a:endParaRPr lang="en-US" altLang="zh-CN" sz="1800">
              <a:highlight>
                <a:srgbClr val="C0C0C0"/>
              </a:highlight>
            </a:endParaRPr>
          </a:p>
          <a:p>
            <a:pPr lvl="1"/>
            <a:r>
              <a:rPr lang="en-US" altLang="zh-CN" sz="1800">
                <a:highlight>
                  <a:srgbClr val="C0C0C0"/>
                </a:highlight>
              </a:rPr>
              <a:t>• first 100 units: 0.50 yuan per unit;</a:t>
            </a:r>
            <a:endParaRPr lang="en-US" altLang="zh-CN" sz="1800">
              <a:highlight>
                <a:srgbClr val="C0C0C0"/>
              </a:highlight>
            </a:endParaRPr>
          </a:p>
          <a:p>
            <a:pPr lvl="1"/>
            <a:r>
              <a:rPr lang="en-US" altLang="zh-CN" sz="1800">
                <a:highlight>
                  <a:srgbClr val="C0C0C0"/>
                </a:highlight>
              </a:rPr>
              <a:t>• next 100 units: 0.75 yuan per unit;</a:t>
            </a:r>
            <a:endParaRPr lang="en-US" altLang="zh-CN" sz="1800">
              <a:highlight>
                <a:srgbClr val="C0C0C0"/>
              </a:highlight>
            </a:endParaRPr>
          </a:p>
          <a:p>
            <a:pPr lvl="1"/>
            <a:r>
              <a:rPr lang="en-US" altLang="zh-CN" sz="1800">
                <a:highlight>
                  <a:srgbClr val="C0C0C0"/>
                </a:highlight>
              </a:rPr>
              <a:t>• units above 200: 1.00 yuan per unit.</a:t>
            </a:r>
            <a:endParaRPr lang="en-US" altLang="zh-CN" sz="1800">
              <a:highlight>
                <a:srgbClr val="C0C0C0"/>
              </a:highligh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6640" y="3498215"/>
            <a:ext cx="952944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highlight>
                  <a:srgbClr val="C0C0C0"/>
                </a:highlight>
              </a:rPr>
              <a:t>Example 8: Rock, Paper, Scissors</a:t>
            </a:r>
            <a:endParaRPr lang="zh-CN" altLang="en-US" sz="1800">
              <a:highlight>
                <a:srgbClr val="C0C0C0"/>
              </a:highlight>
            </a:endParaRPr>
          </a:p>
          <a:p>
            <a:endParaRPr lang="en-US" altLang="zh-CN" sz="1800">
              <a:highlight>
                <a:srgbClr val="C0C0C0"/>
              </a:highlight>
            </a:endParaRPr>
          </a:p>
          <a:p>
            <a:r>
              <a:rPr lang="en-US" altLang="zh-CN" sz="1800">
                <a:highlight>
                  <a:srgbClr val="C0C0C0"/>
                </a:highlight>
              </a:rPr>
              <a:t>Hint: use the following input statements:</a:t>
            </a:r>
            <a:endParaRPr lang="zh-CN" altLang="en-US" sz="1800">
              <a:highlight>
                <a:srgbClr val="C0C0C0"/>
              </a:highlight>
            </a:endParaRPr>
          </a:p>
          <a:p>
            <a:endParaRPr lang="zh-CN" altLang="en-US" sz="1800">
              <a:highlight>
                <a:srgbClr val="C0C0C0"/>
              </a:highlight>
            </a:endParaRPr>
          </a:p>
          <a:p>
            <a:r>
              <a:rPr lang="en-US" altLang="zh-CN" sz="1800"/>
              <a:t>player_1 = input("Player 1: ").strip().lower()</a:t>
            </a:r>
            <a:endParaRPr lang="en-US" altLang="zh-CN" sz="1800"/>
          </a:p>
          <a:p>
            <a:r>
              <a:rPr lang="en-US" altLang="zh-CN" sz="1800"/>
              <a:t>player_2 = input("Player 2: ").strip().lower()</a:t>
            </a:r>
            <a:endParaRPr lang="en-US" altLang="zh-CN" sz="1800"/>
          </a:p>
          <a:p>
            <a:r>
              <a:rPr lang="zh-CN" altLang="en-US" sz="1800"/>
              <a:t>Also define valid choices: valid_choices = ("rock", "paper", "scissors")</a:t>
            </a:r>
            <a:endParaRPr lang="en-US" altLang="zh-CN" sz="1800"/>
          </a:p>
          <a:p>
            <a:r>
              <a:rPr lang="zh-CN" altLang="en-US" sz="1800"/>
              <a:t>When is the input invalid? When is it a tie? When does player_1 win?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369.9,&quot;left&quot;:578.7,&quot;top&quot;:135.65,&quot;width&quot;:381.3}"/>
</p:tagLst>
</file>

<file path=ppt/tags/tag2.xml><?xml version="1.0" encoding="utf-8"?>
<p:tagLst xmlns:p="http://schemas.openxmlformats.org/presentationml/2006/main">
  <p:tag name="KSO_WM_DIAGRAM_VIRTUALLY_FRAME" val="{&quot;height&quot;:369.9,&quot;left&quot;:578.7,&quot;top&quot;:135.65,&quot;width&quot;:381.3}"/>
</p:tagLst>
</file>

<file path=ppt/tags/tag3.xml><?xml version="1.0" encoding="utf-8"?>
<p:tagLst xmlns:p="http://schemas.openxmlformats.org/presentationml/2006/main">
  <p:tag name="KSO_WM_DIAGRAM_VIRTUALLY_FRAME" val="{&quot;height&quot;:369.9,&quot;left&quot;:578.7,&quot;top&quot;:135.65,&quot;width&quot;:381.3}"/>
</p:tagLst>
</file>

<file path=ppt/tags/tag4.xml><?xml version="1.0" encoding="utf-8"?>
<p:tagLst xmlns:p="http://schemas.openxmlformats.org/presentationml/2006/main">
  <p:tag name="KSO_WM_DIAGRAM_VIRTUALLY_FRAME" val="{&quot;height&quot;:369.9,&quot;left&quot;:578.7,&quot;top&quot;:135.65,&quot;width&quot;:381.3}"/>
</p:tagLst>
</file>

<file path=ppt/tags/tag5.xml><?xml version="1.0" encoding="utf-8"?>
<p:tagLst xmlns:p="http://schemas.openxmlformats.org/presentationml/2006/main">
  <p:tag name="KSO_WM_DIAGRAM_VIRTUALLY_FRAME" val="{&quot;height&quot;:369.9,&quot;left&quot;:578.7,&quot;top&quot;:135.65,&quot;width&quot;:381.3}"/>
</p:tagLst>
</file>

<file path=ppt/tags/tag6.xml><?xml version="1.0" encoding="utf-8"?>
<p:tagLst xmlns:p="http://schemas.openxmlformats.org/presentationml/2006/main">
  <p:tag name="KSO_WM_DIAGRAM_VIRTUALLY_FRAME" val="{&quot;height&quot;:369.9,&quot;left&quot;:578.7,&quot;top&quot;:135.65,&quot;width&quot;:381.3}"/>
</p:tagLst>
</file>

<file path=ppt/tags/tag7.xml><?xml version="1.0" encoding="utf-8"?>
<p:tagLst xmlns:p="http://schemas.openxmlformats.org/presentationml/2006/main">
  <p:tag name="commondata" val="eyJoZGlkIjoiMzZjMWIyODQ2OGIxNzQzMWJhOTRhMDhkNmY0ZjkyMjMifQ=="/>
</p:tagLst>
</file>

<file path=ppt/theme/theme1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10860</Words>
  <Application>WPS 演示</Application>
  <PresentationFormat>自定义</PresentationFormat>
  <Paragraphs>560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宋体</vt:lpstr>
      <vt:lpstr>Wingdings</vt:lpstr>
      <vt:lpstr>黑体</vt:lpstr>
      <vt:lpstr>Arial Black</vt:lpstr>
      <vt:lpstr>等线</vt:lpstr>
      <vt:lpstr>微软雅黑</vt:lpstr>
      <vt:lpstr>Times New Roman</vt:lpstr>
      <vt:lpstr>Arial Unicode MS</vt:lpstr>
      <vt:lpstr>Constantia</vt:lpstr>
      <vt:lpstr>Segoe Print</vt:lpstr>
      <vt:lpstr>4_自定义设计方案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李嘉晖</cp:lastModifiedBy>
  <cp:revision>832</cp:revision>
  <dcterms:created xsi:type="dcterms:W3CDTF">2025-10-13T03:00:00Z</dcterms:created>
  <dcterms:modified xsi:type="dcterms:W3CDTF">2026-08-15T05:18:34Z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98E5268573796189E4739568B70C1694_43</vt:lpwstr>
  </property>
</Properties>
</file>